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ARCHITECTURE MICRO-SERVICES • JOURNÉE 3</a:t>
            </a:r>
            <a:endParaRPr lang="en-US" sz="1100" dirty="0"/>
          </a:p>
        </p:txBody>
      </p:sp>
      <p:sp>
        <p:nvSpPr>
          <p:cNvPr id="3" name="Text 1"/>
          <p:cNvSpPr/>
          <p:nvPr/>
        </p:nvSpPr>
        <p:spPr>
          <a:xfrm>
            <a:off x="8229600" y="3657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01</a:t>
            </a:r>
            <a:endParaRPr lang="en-US" sz="1000" dirty="0"/>
          </a:p>
        </p:txBody>
      </p:sp>
      <p:sp>
        <p:nvSpPr>
          <p:cNvPr id="4" name="Text 2"/>
          <p:cNvSpPr/>
          <p:nvPr/>
        </p:nvSpPr>
        <p:spPr>
          <a:xfrm>
            <a:off x="457200" y="137160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Sécurité, cohérence, point d'entrée</a:t>
            </a:r>
            <a:endParaRPr lang="en-US" sz="3600" dirty="0"/>
          </a:p>
        </p:txBody>
      </p:sp>
      <p:sp>
        <p:nvSpPr>
          <p:cNvPr id="5" name="Text 3"/>
          <p:cNvSpPr/>
          <p:nvPr/>
        </p:nvSpPr>
        <p:spPr>
          <a:xfrm>
            <a:off x="457200" y="2560320"/>
            <a:ext cx="8229600" cy="457200"/>
          </a:xfrm>
          <a:prstGeom prst="rect">
            <a:avLst/>
          </a:prstGeom>
          <a:noFill/>
          <a:ln/>
        </p:spPr>
        <p:txBody>
          <a:bodyPr wrap="square" rtlCol="0" anchor="ctr"/>
          <a:lstStyle/>
          <a:p>
            <a:pPr algn="ctr" indent="0" marL="0">
              <a:buNone/>
            </a:pPr>
            <a:r>
              <a:rPr lang="en-US" sz="1700" i="1" dirty="0">
                <a:solidFill>
                  <a:srgbClr val="CADCFC"/>
                </a:solidFill>
                <a:latin typeface="Calibri" pitchFamily="34" charset="0"/>
                <a:ea typeface="Calibri" pitchFamily="34" charset="-122"/>
                <a:cs typeface="Calibri" pitchFamily="34" charset="-120"/>
              </a:rPr>
              <a:t>S9 · S10 · S11 · S12 — JWT, Sagas, Gateway, TP collectif</a:t>
            </a:r>
            <a:endParaRPr lang="en-US" sz="1700" dirty="0"/>
          </a:p>
        </p:txBody>
      </p:sp>
      <p:sp>
        <p:nvSpPr>
          <p:cNvPr id="6" name="Shape 4"/>
          <p:cNvSpPr/>
          <p:nvPr/>
        </p:nvSpPr>
        <p:spPr>
          <a:xfrm>
            <a:off x="4114800" y="3291840"/>
            <a:ext cx="914400" cy="45720"/>
          </a:xfrm>
          <a:prstGeom prst="rect">
            <a:avLst/>
          </a:prstGeom>
          <a:solidFill>
            <a:srgbClr val="F96167"/>
          </a:solidFill>
          <a:ln w="12700">
            <a:solidFill>
              <a:srgbClr val="F96167"/>
            </a:solidFill>
            <a:prstDash val="solid"/>
          </a:ln>
        </p:spPr>
      </p:sp>
      <p:sp>
        <p:nvSpPr>
          <p:cNvPr id="7" name="Text 5"/>
          <p:cNvSpPr/>
          <p:nvPr/>
        </p:nvSpPr>
        <p:spPr>
          <a:xfrm>
            <a:off x="457200" y="3566160"/>
            <a:ext cx="8229600" cy="36576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 7 heures · 3 cours théoriques · 1 TP collectif (toutes équipes ensemble)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PROGRAMME DE LA JOURNÉE</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02</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Ce qu'on va vivre ensemble</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S9 (1h45) :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Authentification &amp; Autorisation — JWT, OAuth2, RBAC</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S10 (1h45) :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Sagas — transactions distribuées et compensation</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S11 (1h45) :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API Gateway — Traefik, routing, sécurité périmétrique</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S12 (1h45) :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TP collectif — Platform code Auth+Gateway, équipes intègrent JWT</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À la fin : votre FlexShop a une authentification centralisée, une vraie Gateway, et vous savez raisonner sur les transactions distribuées.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4572000" cy="27432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PREMIÈRE SÉANCE • 1H45 • COURS</a:t>
            </a:r>
            <a:endParaRPr lang="en-US" sz="1000" dirty="0"/>
          </a:p>
        </p:txBody>
      </p:sp>
      <p:sp>
        <p:nvSpPr>
          <p:cNvPr id="3" name="Text 1"/>
          <p:cNvSpPr/>
          <p:nvPr/>
        </p:nvSpPr>
        <p:spPr>
          <a:xfrm>
            <a:off x="8229600" y="3657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03</a:t>
            </a:r>
            <a:endParaRPr lang="en-US" sz="1000" dirty="0"/>
          </a:p>
        </p:txBody>
      </p:sp>
      <p:sp>
        <p:nvSpPr>
          <p:cNvPr id="4" name="Text 2"/>
          <p:cNvSpPr/>
          <p:nvPr/>
        </p:nvSpPr>
        <p:spPr>
          <a:xfrm>
            <a:off x="457200" y="1645920"/>
            <a:ext cx="8229600"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S9 — Authentification &amp; Autorisation</a:t>
            </a:r>
            <a:endParaRPr lang="en-US" sz="4000" dirty="0"/>
          </a:p>
        </p:txBody>
      </p:sp>
      <p:sp>
        <p:nvSpPr>
          <p:cNvPr id="5" name="Text 3"/>
          <p:cNvSpPr/>
          <p:nvPr/>
        </p:nvSpPr>
        <p:spPr>
          <a:xfrm>
            <a:off x="914400" y="3200400"/>
            <a:ext cx="7315200" cy="640080"/>
          </a:xfrm>
          <a:prstGeom prst="rect">
            <a:avLst/>
          </a:prstGeom>
          <a:noFill/>
          <a:ln/>
        </p:spPr>
        <p:txBody>
          <a:bodyPr wrap="square"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JWT, OAuth2, RBAC, mTLS</a:t>
            </a:r>
            <a:endParaRPr lang="en-US" sz="1800" dirty="0"/>
          </a:p>
        </p:txBody>
      </p:sp>
      <p:sp>
        <p:nvSpPr>
          <p:cNvPr id="6" name="Shape 4"/>
          <p:cNvSpPr/>
          <p:nvPr/>
        </p:nvSpPr>
        <p:spPr>
          <a:xfrm>
            <a:off x="4114800" y="4572000"/>
            <a:ext cx="914400" cy="45720"/>
          </a:xfrm>
          <a:prstGeom prst="rect">
            <a:avLst/>
          </a:prstGeom>
          <a:solidFill>
            <a:srgbClr val="F96167"/>
          </a:solidFill>
          <a:ln w="12700">
            <a:solidFill>
              <a:srgbClr val="F96167"/>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AU MENU DE S9</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04</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Programme de la séance</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Le problème : qui appelle qui, et comment vérifier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Authentification (qui es-tu ?) vs Autorisation (peux-tu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JWT : structure, signature, expiration, avantages, pièges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OAuth2 et OpenID Connect (brièvement)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Modèles d'autorisation : RBAC vs ABAC</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mTLS pour la sécurité service-à-service</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Format trios habituel. Tout ce qu'on voit sera utilisé dans le TP S12.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7951C"/>
          </a:solidFill>
          <a:ln w="12700">
            <a:solidFill>
              <a:srgbClr val="C7951C"/>
            </a:solidFill>
            <a:prstDash val="solid"/>
          </a:ln>
        </p:spPr>
      </p:sp>
      <p:sp>
        <p:nvSpPr>
          <p:cNvPr id="3" name="Text 1"/>
          <p:cNvSpPr/>
          <p:nvPr/>
        </p:nvSpPr>
        <p:spPr>
          <a:xfrm>
            <a:off x="457200" y="274320"/>
            <a:ext cx="6400800" cy="320040"/>
          </a:xfrm>
          <a:prstGeom prst="rect">
            <a:avLst/>
          </a:prstGeom>
          <a:noFill/>
          <a:ln/>
        </p:spPr>
        <p:txBody>
          <a:bodyPr wrap="square" rtlCol="0" anchor="ctr"/>
          <a:lstStyle/>
          <a:p>
            <a:pPr indent="0" marL="0">
              <a:buNone/>
            </a:pPr>
            <a:r>
              <a:rPr lang="en-US" sz="1100" b="1" spc="300" kern="0" dirty="0">
                <a:solidFill>
                  <a:srgbClr val="C7951C"/>
                </a:solidFill>
                <a:latin typeface="Calibri" pitchFamily="34" charset="0"/>
                <a:ea typeface="Calibri" pitchFamily="34" charset="-122"/>
                <a:cs typeface="Calibri" pitchFamily="34" charset="-120"/>
              </a:rPr>
              <a:t>📖 DICO — À GARDER SOUS LES YEUX</a:t>
            </a:r>
            <a:endParaRPr lang="en-US" sz="11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05</a:t>
            </a:r>
            <a:endParaRPr lang="en-US" sz="1000" dirty="0"/>
          </a:p>
        </p:txBody>
      </p:sp>
      <p:sp>
        <p:nvSpPr>
          <p:cNvPr id="5" name="Text 3"/>
          <p:cNvSpPr/>
          <p:nvPr/>
        </p:nvSpPr>
        <p:spPr>
          <a:xfrm>
            <a:off x="457200" y="594360"/>
            <a:ext cx="8229600" cy="45720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Dico S9 — Sécurité et identité</a:t>
            </a:r>
            <a:endParaRPr lang="en-US" sz="2200" dirty="0"/>
          </a:p>
        </p:txBody>
      </p:sp>
      <p:sp>
        <p:nvSpPr>
          <p:cNvPr id="6" name="Text 4"/>
          <p:cNvSpPr/>
          <p:nvPr/>
        </p:nvSpPr>
        <p:spPr>
          <a:xfrm>
            <a:off x="457200" y="100584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Le vocabulaire de l'authentification et de l'autorisation</a:t>
            </a:r>
            <a:endParaRPr lang="en-US" sz="1100" dirty="0"/>
          </a:p>
        </p:txBody>
      </p:sp>
      <p:sp>
        <p:nvSpPr>
          <p:cNvPr id="7" name="Text 5"/>
          <p:cNvSpPr/>
          <p:nvPr/>
        </p:nvSpPr>
        <p:spPr>
          <a:xfrm>
            <a:off x="457200" y="1325880"/>
            <a:ext cx="8229600" cy="228600"/>
          </a:xfrm>
          <a:prstGeom prst="rect">
            <a:avLst/>
          </a:prstGeom>
          <a:noFill/>
          <a:ln/>
        </p:spPr>
        <p:txBody>
          <a:bodyPr wrap="square" rtlCol="0" anchor="ctr"/>
          <a:lstStyle/>
          <a:p>
            <a:pPr indent="0" marL="0">
              <a:buNone/>
            </a:pPr>
            <a:r>
              <a:rPr lang="en-US" sz="1000" b="1" spc="200" kern="0" dirty="0">
                <a:solidFill>
                  <a:srgbClr val="2E7D32"/>
                </a:solidFill>
                <a:latin typeface="Calibri" pitchFamily="34" charset="0"/>
                <a:ea typeface="Calibri" pitchFamily="34" charset="-122"/>
                <a:cs typeface="Calibri" pitchFamily="34" charset="-120"/>
              </a:rPr>
              <a:t>⚡ NOUVEAUX TERMES</a:t>
            </a:r>
            <a:endParaRPr lang="en-US" sz="1000" dirty="0"/>
          </a:p>
        </p:txBody>
      </p:sp>
      <p:sp>
        <p:nvSpPr>
          <p:cNvPr id="8" name="Text 6"/>
          <p:cNvSpPr/>
          <p:nvPr/>
        </p:nvSpPr>
        <p:spPr>
          <a:xfrm>
            <a:off x="45720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Authentification (AuthN)</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vérifier QUI tu es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Autorisation (AuthZ)</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vérifier CE QUE tu peux faire</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JWT</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JSON Web Token, jeton signé portant des claims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Claim</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info dans le payload du JWT (sub, exp, role...)</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Header.Payload.Signature</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structure d'un JWT (3 parties base64)</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HS256 / RS256</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algos de signature : symétrique (secret partagé) vs asymétrique (clés)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Refresh token</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jeton long pour renouveler les access tokens</a:t>
            </a:r>
            <a:endParaRPr lang="en-US" sz="1000" dirty="0"/>
          </a:p>
        </p:txBody>
      </p:sp>
      <p:sp>
        <p:nvSpPr>
          <p:cNvPr id="9" name="Text 7"/>
          <p:cNvSpPr/>
          <p:nvPr/>
        </p:nvSpPr>
        <p:spPr>
          <a:xfrm>
            <a:off x="466344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OAuth2</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framework d'autorisation déléguée (Google login...)</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OpenID Connect (OIDC)</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couche d'identité au-dessus d'OAuth2</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RBAC</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Role-Based Access Control (rôles : admin, user...)</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ABAC</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Attribute-Based Access Control (règles fines)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mTLS</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mutual TLS, chaque service présente son certificat</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Stateless</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le serveur ne stocke pas de session, tout est dans le JWT</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Bearer token</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Authorization: Bearer &lt;token&gt;</a:t>
            </a:r>
            <a:endParaRPr lang="en-US" sz="1000" dirty="0"/>
          </a:p>
        </p:txBody>
      </p:sp>
      <p:sp>
        <p:nvSpPr>
          <p:cNvPr id="10" name="Shape 8"/>
          <p:cNvSpPr/>
          <p:nvPr/>
        </p:nvSpPr>
        <p:spPr>
          <a:xfrm>
            <a:off x="457200" y="3977640"/>
            <a:ext cx="8229600" cy="960120"/>
          </a:xfrm>
          <a:prstGeom prst="rect">
            <a:avLst/>
          </a:prstGeom>
          <a:solidFill>
            <a:srgbClr val="F4F4F4"/>
          </a:solidFill>
          <a:ln w="6350">
            <a:solidFill>
              <a:srgbClr val="5A6378"/>
            </a:solidFill>
            <a:prstDash val="solid"/>
          </a:ln>
        </p:spPr>
      </p:sp>
      <p:sp>
        <p:nvSpPr>
          <p:cNvPr id="11" name="Text 9"/>
          <p:cNvSpPr/>
          <p:nvPr/>
        </p:nvSpPr>
        <p:spPr>
          <a:xfrm>
            <a:off x="640080" y="4023360"/>
            <a:ext cx="7863840" cy="228600"/>
          </a:xfrm>
          <a:prstGeom prst="rect">
            <a:avLst/>
          </a:prstGeom>
          <a:noFill/>
          <a:ln/>
        </p:spPr>
        <p:txBody>
          <a:bodyPr wrap="square" rtlCol="0" anchor="ctr"/>
          <a:lstStyle/>
          <a:p>
            <a:pPr indent="0" marL="0">
              <a:buNone/>
            </a:pPr>
            <a:r>
              <a:rPr lang="en-US" sz="900" b="1" spc="200" kern="0" dirty="0">
                <a:solidFill>
                  <a:srgbClr val="5A6378"/>
                </a:solidFill>
                <a:latin typeface="Calibri" pitchFamily="34" charset="0"/>
                <a:ea typeface="Calibri" pitchFamily="34" charset="-122"/>
                <a:cs typeface="Calibri" pitchFamily="34" charset="-120"/>
              </a:rPr>
              <a:t>↺ RAPPEL — DÉJÀ VUS PRÉCÉDEMMENT</a:t>
            </a:r>
            <a:endParaRPr lang="en-US" sz="900" dirty="0"/>
          </a:p>
        </p:txBody>
      </p:sp>
      <p:sp>
        <p:nvSpPr>
          <p:cNvPr id="12" name="Text 10"/>
          <p:cNvSpPr/>
          <p:nvPr/>
        </p:nvSpPr>
        <p:spPr>
          <a:xfrm>
            <a:off x="640080" y="4251960"/>
            <a:ext cx="7863840" cy="640080"/>
          </a:xfrm>
          <a:prstGeom prst="rect">
            <a:avLst/>
          </a:prstGeom>
          <a:noFill/>
          <a:ln/>
        </p:spPr>
        <p:txBody>
          <a:bodyPr wrap="square" rtlCol="0" anchor="ctr"/>
          <a:lstStyle/>
          <a:p>
            <a:pPr indent="0" marL="0">
              <a:buNone/>
            </a:pPr>
            <a:r>
              <a:rPr lang="en-US" sz="900" b="1" dirty="0">
                <a:solidFill>
                  <a:srgbClr val="5A6378"/>
                </a:solidFill>
                <a:latin typeface="Calibri" pitchFamily="34" charset="0"/>
                <a:ea typeface="Calibri" pitchFamily="34" charset="-122"/>
                <a:cs typeface="Calibri" pitchFamily="34" charset="-120"/>
              </a:rPr>
              <a:t>Vu précédemment : </a:t>
            </a:r>
            <a:pPr indent="0" marL="0">
              <a:buNone/>
            </a:pPr>
            <a:r>
              <a:rPr lang="en-US" sz="900" b="1" dirty="0">
                <a:solidFill>
                  <a:srgbClr val="1E2761"/>
                </a:solidFill>
                <a:latin typeface="Calibri" pitchFamily="34" charset="0"/>
                <a:ea typeface="Calibri" pitchFamily="34" charset="-122"/>
                <a:cs typeface="Calibri" pitchFamily="34" charset="-120"/>
              </a:rPr>
              <a:t>API REST</a:t>
            </a:r>
            <a:pPr indent="0" marL="0">
              <a:buNone/>
            </a:pPr>
            <a:r>
              <a:rPr lang="en-US" sz="900" dirty="0">
                <a:solidFill>
                  <a:srgbClr val="5A6378"/>
                </a:solidFill>
                <a:latin typeface="Calibri" pitchFamily="34" charset="0"/>
                <a:ea typeface="Calibri" pitchFamily="34" charset="-122"/>
                <a:cs typeface="Calibri" pitchFamily="34" charset="-120"/>
              </a:rPr>
              <a:t> · </a:t>
            </a:r>
            <a:pPr indent="0" marL="0">
              <a:buNone/>
            </a:pPr>
            <a:r>
              <a:rPr lang="en-US" sz="900" b="1" dirty="0">
                <a:solidFill>
                  <a:srgbClr val="1E2761"/>
                </a:solidFill>
                <a:latin typeface="Calibri" pitchFamily="34" charset="0"/>
                <a:ea typeface="Calibri" pitchFamily="34" charset="-122"/>
                <a:cs typeface="Calibri" pitchFamily="34" charset="-120"/>
              </a:rPr>
              <a:t>Codes HTTP (401, 403)</a:t>
            </a:r>
            <a:pPr indent="0" marL="0">
              <a:buNone/>
            </a:pPr>
            <a:r>
              <a:rPr lang="en-US" sz="900" dirty="0">
                <a:solidFill>
                  <a:srgbClr val="5A6378"/>
                </a:solidFill>
                <a:latin typeface="Calibri" pitchFamily="34" charset="0"/>
                <a:ea typeface="Calibri" pitchFamily="34" charset="-122"/>
                <a:cs typeface="Calibri" pitchFamily="34" charset="-120"/>
              </a:rPr>
              <a:t> · </a:t>
            </a:r>
            <a:pPr indent="0" marL="0">
              <a:buNone/>
            </a:pPr>
            <a:r>
              <a:rPr lang="en-US" sz="900" b="1" dirty="0">
                <a:solidFill>
                  <a:srgbClr val="1E2761"/>
                </a:solidFill>
                <a:latin typeface="Calibri" pitchFamily="34" charset="0"/>
                <a:ea typeface="Calibri" pitchFamily="34" charset="-122"/>
                <a:cs typeface="Calibri" pitchFamily="34" charset="-120"/>
              </a:rPr>
              <a:t>Idempotence</a:t>
            </a:r>
            <a:pPr indent="0" marL="0">
              <a:buNone/>
            </a:pPr>
            <a:r>
              <a:rPr lang="en-US" sz="900" dirty="0">
                <a:solidFill>
                  <a:srgbClr val="5A6378"/>
                </a:solidFill>
                <a:latin typeface="Calibri" pitchFamily="34" charset="0"/>
                <a:ea typeface="Calibri" pitchFamily="34" charset="-122"/>
                <a:cs typeface="Calibri" pitchFamily="34" charset="-120"/>
              </a:rPr>
              <a:t> · </a:t>
            </a:r>
            <a:pPr indent="0" marL="0">
              <a:buNone/>
            </a:pPr>
            <a:r>
              <a:rPr lang="en-US" sz="900" b="1" dirty="0">
                <a:solidFill>
                  <a:srgbClr val="1E2761"/>
                </a:solidFill>
                <a:latin typeface="Calibri" pitchFamily="34" charset="0"/>
                <a:ea typeface="Calibri" pitchFamily="34" charset="-122"/>
                <a:cs typeface="Calibri" pitchFamily="34" charset="-120"/>
              </a:rPr>
              <a:t>Communication inter-services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1/5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06</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Vous arrivez au lycée. Le gardien à l'entrée vérifie votre badge.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Puis vous voulez entrer dans la salle des profs. Votre badge est valide mais la porte refuse.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Que s'est-il passé ? Quels sont les deux mécanismes en jeu ?</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Comment nommez-vous ces deux contrôles distincts ?</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07</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Authentification vs Autorisation</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Deux mécanismes distincts, souvent confondus. Toujours dans cet ordre : d'abord QUI, ensuite CE QUE.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Authentification (AuthN)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 qui es-tu ? » → vérifier l'identité (login + password, token, certificat).</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Autorisation (AuthZ)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 peux-tu ? » → vérifier les droits (rôles, permissions, règles métier).</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Codes HTTP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401 Unauthorized = pas authentifié. 403 Forbidden = authentifié mais pas autorisé.</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Toujours dans cet ordre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on vérifie l'identité AVANT les droits. Sinon on fuite que la ressource existe.</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401 = qui es-tu ? · 403 = oui je sais qui tu es mais NON. Toujours distinguer.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2/5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08</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Approche « session classique » : le serveur stocke en BD les sessions. Chaque requête, on vérifie en base.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Avec 10 micro-services, chaque appel inter-services doit revérifier la session en base...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 10x latence, 10x charge sur la BD de session.</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Quelle approche alternative existe ? Quel est son principe ?</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09</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 JWT — JSON Web Token</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Jeton signé qui contient l'identité ET les droits. Tout est dans le jeton — pas besoin de revérifier en base.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Structure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Header.Payload.Signature (3 parties base64 séparées par des points).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Payload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claims = sub (identifiant), exp (expiration), iat (émis à), roles...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Signature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HMAC ou RSA, garantit que le token n'a pas été modifié.</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Stateless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n'importe quel service peut vérifier sans appeler la BD.</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Bearer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transmis en header HTTP : Authorization: Bearer eyJ...</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JWT = signature + claims dans le token. Stateless = parfait pour micro-services.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3/5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Voici un vrai JWT signé :</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eyJhbGciOiJIUzI1NiIsInR5cCI6IkpXVCJ9.</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eyJzdWIiOiI0MiIsInJvbGUiOiJhZG1pbiIsImV4cCI6MTczMDAwMDAwMH0.</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Ws9pCY3ox8s1zdzxH9DMIQX5sDSXZu14wxLPsGnyVJo</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Quelles infos contient-il ? Comment on les décode ?</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Allez sur jwt.io et collez ce token — qu'est-ce qui apparaît ?</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VOTE À MAIN LEVÉE</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457200" y="1097280"/>
            <a:ext cx="8229600" cy="731520"/>
          </a:xfrm>
          <a:prstGeom prst="rect">
            <a:avLst/>
          </a:prstGeom>
          <a:noFill/>
          <a:ln/>
        </p:spPr>
        <p:txBody>
          <a:bodyPr wrap="square" rtlCol="0" anchor="ctr"/>
          <a:lstStyle/>
          <a:p>
            <a:pPr algn="ctr" indent="0" marL="0">
              <a:buNone/>
            </a:pPr>
            <a:r>
              <a:rPr lang="en-US" sz="2200" b="1" dirty="0">
                <a:solidFill>
                  <a:srgbClr val="1E2761"/>
                </a:solidFill>
                <a:latin typeface="Calibri" pitchFamily="34" charset="0"/>
                <a:ea typeface="Calibri" pitchFamily="34" charset="-122"/>
                <a:cs typeface="Calibri" pitchFamily="34" charset="-120"/>
              </a:rPr>
              <a:t>Le payload d'un JWT est-il chiffré ?</a:t>
            </a:r>
            <a:endParaRPr lang="en-US" sz="2200" dirty="0"/>
          </a:p>
        </p:txBody>
      </p:sp>
      <p:sp>
        <p:nvSpPr>
          <p:cNvPr id="6" name="Shape 4"/>
          <p:cNvSpPr/>
          <p:nvPr/>
        </p:nvSpPr>
        <p:spPr>
          <a:xfrm>
            <a:off x="914400" y="2286000"/>
            <a:ext cx="3474720" cy="2011680"/>
          </a:xfrm>
          <a:prstGeom prst="rect">
            <a:avLst/>
          </a:prstGeom>
          <a:solidFill>
            <a:srgbClr val="FFFFFF"/>
          </a:solidFill>
          <a:ln w="25400">
            <a:solidFill>
              <a:srgbClr val="1E2761"/>
            </a:solidFill>
            <a:prstDash val="solid"/>
          </a:ln>
        </p:spPr>
      </p:sp>
      <p:sp>
        <p:nvSpPr>
          <p:cNvPr id="7" name="Shape 5"/>
          <p:cNvSpPr/>
          <p:nvPr/>
        </p:nvSpPr>
        <p:spPr>
          <a:xfrm>
            <a:off x="2331720" y="2468880"/>
            <a:ext cx="640080" cy="640080"/>
          </a:xfrm>
          <a:prstGeom prst="ellipse">
            <a:avLst/>
          </a:prstGeom>
          <a:solidFill>
            <a:srgbClr val="1E2761"/>
          </a:solidFill>
          <a:ln w="12700">
            <a:solidFill>
              <a:srgbClr val="1E2761"/>
            </a:solidFill>
            <a:prstDash val="solid"/>
          </a:ln>
        </p:spPr>
      </p:sp>
      <p:sp>
        <p:nvSpPr>
          <p:cNvPr id="8" name="Text 6"/>
          <p:cNvSpPr/>
          <p:nvPr/>
        </p:nvSpPr>
        <p:spPr>
          <a:xfrm>
            <a:off x="2331720" y="24688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9" name="Text 7"/>
          <p:cNvSpPr/>
          <p:nvPr/>
        </p:nvSpPr>
        <p:spPr>
          <a:xfrm>
            <a:off x="1051560" y="3246120"/>
            <a:ext cx="3200400" cy="1005840"/>
          </a:xfrm>
          <a:prstGeom prst="rect">
            <a:avLst/>
          </a:prstGeom>
          <a:noFill/>
          <a:ln/>
        </p:spPr>
        <p:txBody>
          <a:bodyPr wrap="square"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Oui, illisible sans la clé</a:t>
            </a:r>
            <a:endParaRPr lang="en-US" sz="1400" dirty="0"/>
          </a:p>
        </p:txBody>
      </p:sp>
      <p:sp>
        <p:nvSpPr>
          <p:cNvPr id="10" name="Shape 8"/>
          <p:cNvSpPr/>
          <p:nvPr/>
        </p:nvSpPr>
        <p:spPr>
          <a:xfrm>
            <a:off x="4754880" y="2286000"/>
            <a:ext cx="3474720" cy="2011680"/>
          </a:xfrm>
          <a:prstGeom prst="rect">
            <a:avLst/>
          </a:prstGeom>
          <a:solidFill>
            <a:srgbClr val="FFFFFF"/>
          </a:solidFill>
          <a:ln w="25400">
            <a:solidFill>
              <a:srgbClr val="1E2761"/>
            </a:solidFill>
            <a:prstDash val="solid"/>
          </a:ln>
        </p:spPr>
      </p:sp>
      <p:sp>
        <p:nvSpPr>
          <p:cNvPr id="11" name="Shape 9"/>
          <p:cNvSpPr/>
          <p:nvPr/>
        </p:nvSpPr>
        <p:spPr>
          <a:xfrm>
            <a:off x="6172200" y="2468880"/>
            <a:ext cx="640080" cy="640080"/>
          </a:xfrm>
          <a:prstGeom prst="ellipse">
            <a:avLst/>
          </a:prstGeom>
          <a:solidFill>
            <a:srgbClr val="1E2761"/>
          </a:solidFill>
          <a:ln w="12700">
            <a:solidFill>
              <a:srgbClr val="1E2761"/>
            </a:solidFill>
            <a:prstDash val="solid"/>
          </a:ln>
        </p:spPr>
      </p:sp>
      <p:sp>
        <p:nvSpPr>
          <p:cNvPr id="12" name="Text 10"/>
          <p:cNvSpPr/>
          <p:nvPr/>
        </p:nvSpPr>
        <p:spPr>
          <a:xfrm>
            <a:off x="6172200" y="24688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3" name="Text 11"/>
          <p:cNvSpPr/>
          <p:nvPr/>
        </p:nvSpPr>
        <p:spPr>
          <a:xfrm>
            <a:off x="4892040" y="3246120"/>
            <a:ext cx="3200400" cy="1005840"/>
          </a:xfrm>
          <a:prstGeom prst="rect">
            <a:avLst/>
          </a:prstGeom>
          <a:noFill/>
          <a:ln/>
        </p:spPr>
        <p:txBody>
          <a:bodyPr wrap="square"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Non, juste signé : lisible par tous</a:t>
            </a:r>
            <a:endParaRPr lang="en-US" sz="1400" dirty="0"/>
          </a:p>
        </p:txBody>
      </p:sp>
      <p:sp>
        <p:nvSpPr>
          <p:cNvPr id="14" name="Text 12"/>
          <p:cNvSpPr/>
          <p:nvPr/>
        </p:nvSpPr>
        <p:spPr>
          <a:xfrm>
            <a:off x="457200" y="4572000"/>
            <a:ext cx="8229600" cy="274320"/>
          </a:xfrm>
          <a:prstGeom prst="rect">
            <a:avLst/>
          </a:prstGeom>
          <a:noFill/>
          <a:ln/>
        </p:spPr>
        <p:txBody>
          <a:bodyPr wrap="square" rtlCol="0" anchor="ctr"/>
          <a:lstStyle/>
          <a:p>
            <a:pPr algn="ctr" indent="0" marL="0">
              <a:buNone/>
            </a:pPr>
            <a:r>
              <a:rPr lang="en-US" sz="1100" i="1" dirty="0">
                <a:solidFill>
                  <a:srgbClr val="5A6378"/>
                </a:solidFill>
                <a:latin typeface="Calibri" pitchFamily="34" charset="0"/>
                <a:ea typeface="Calibri" pitchFamily="34" charset="-122"/>
                <a:cs typeface="Calibri" pitchFamily="34" charset="-120"/>
              </a:rPr>
              <a:t>Pas de bonne réponse — défendez votre choix</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Anatomie d'un JWT</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Le JWT est SIGNÉ, pas chiffré. N'importe qui peut lire son contenu, mais personne ne peut le modifier sans casser la signature.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Header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 "alg": "HS256", "typ": "JWT" } — algo de signature.</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Payload (claims)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 "sub": "42", "role": "admin", "exp": 1730000000 } — identité + droits.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Signature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HMAC_SHA256(base64(header) + '.' + base64(payload), secret).</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Conséquence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ne JAMAIS mettre de mot de passe ou donnée sensible dans le payload.</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Réponse au vote : B. Lisible par tous. Le JWT est SIGNÉ pour l'intégrité, pas CHIFFRÉ pour la confidentialité.</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4/5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Dans FlexShop, vous devez décider :</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 Un "admin" peut tout faire.</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 Un "user" peut voir ses propres commandes mais pas celles des autres.</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 Un "user premium" a accès aux ventes flash.</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 Un "user" en France ne peut PAS commander dans la catégorie "alcool" la nuit.</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Combien de niveaux de complexité dans cette autorisation ? Comment modélisez-vous ?</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14</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RBAC vs ABAC</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Deux modèles d'autorisation. RBAC = simple, par rôles. ABAC = règles fines combinant attributs.</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RBAC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Role-Based Access Control. L'utilisateur a un rôle (admin, user, premium), qui définit ses permissions.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ABAC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Attribute-Based Access Control. Règles dynamiques combinant attributs (qui, quoi, quand, où).</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Exemple RBAC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if (user.role === 'admin') allow(). Simple, mais limité.</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Exemple ABAC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if (user.country === order.country &amp;&amp; order.category !== 'alcool' || isWorkHours()) allow().</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Combinaison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RBAC pour les grands accès + ABAC pour les règles métier fines.</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Commencer par RBAC simple. Passer à ABAC quand les règles métier deviennent fines.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5/5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Un utilisateur quitte votre entreprise. Vous révoquez son compte en base.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Mais son JWT, émis il y a 2 heures avec exp=24h, est toujours valide. Il peut continuer à appeler vos API pendant 22h.</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Vous découvrez ça après un audit. Le DPO panique.</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Quel est le piège fondamental ? Comment l'éviter ?</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16</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Les pièges JWT à connaître</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Le JWT est puissant mais a des limites. Si on ne les anticipe pas, on se prend les pieds dedans en prod.</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Révocation difficile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JWT stateless = valide jusqu'à expiration. Solutions : tokens courts (15 min) + refresh, ou blocklist.</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Expiration trop longue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exp = 30 jours = catastrophe. Standard : 15-60 min, avec refresh tokens.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Algo 'none'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vulnérabilité classique. Toujours vérifier l'algo côté serveur.</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Secret faible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HS256 avec secret = 'password'. Toujours secret long, généré aléatoirement.</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Données sensibles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JAMAIS de mot de passe, n° de CB, info perso dans le payload.</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Tokens courts + refresh + signature forte + pas de données sensibles. Et toujours valider côté serveur.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CE QU'ON A VU EN S9</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17</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Les 5 idées clés</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AuthN ≠ AuthZ : 401 (qui ?) vs 403 (peux-tu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JWT = stateless, idéal pour micro-services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Le JWT est SIGNÉ (intégrité), pas CHIFFRÉ (confidentialité)</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RBAC pour les grands accès, ABAC pour les règles fines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Tokens courts (15-60 min) + refresh = bon équilibre sécurité/UX</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ADCFC"/>
        </a:solidFill>
      </p:bgPr>
    </p:bg>
    <p:spTree>
      <p:nvGrpSpPr>
        <p:cNvPr id="1" name=""/>
        <p:cNvGrpSpPr/>
        <p:nvPr/>
      </p:nvGrpSpPr>
      <p:grpSpPr>
        <a:xfrm>
          <a:off x="0" y="0"/>
          <a:ext cx="0" cy="0"/>
          <a:chOff x="0" y="0"/>
          <a:chExt cx="0" cy="0"/>
        </a:xfrm>
      </p:grpSpPr>
      <p:sp>
        <p:nvSpPr>
          <p:cNvPr id="2" name="Text 0"/>
          <p:cNvSpPr/>
          <p:nvPr/>
        </p:nvSpPr>
        <p:spPr>
          <a:xfrm>
            <a:off x="457200" y="731520"/>
            <a:ext cx="8229600" cy="365760"/>
          </a:xfrm>
          <a:prstGeom prst="rect">
            <a:avLst/>
          </a:prstGeom>
          <a:noFill/>
          <a:ln/>
        </p:spPr>
        <p:txBody>
          <a:bodyPr wrap="square" rtlCol="0" anchor="ctr"/>
          <a:lstStyle/>
          <a:p>
            <a:pPr algn="ctr" indent="0" marL="0">
              <a:buNone/>
            </a:pPr>
            <a:r>
              <a:rPr lang="en-US" sz="1200" b="1" spc="400" kern="0" dirty="0">
                <a:solidFill>
                  <a:srgbClr val="5A6378"/>
                </a:solidFill>
                <a:latin typeface="Calibri" pitchFamily="34" charset="0"/>
                <a:ea typeface="Calibri" pitchFamily="34" charset="-122"/>
                <a:cs typeface="Calibri" pitchFamily="34" charset="-120"/>
              </a:rPr>
              <a:t>ON VIENT DE FINIR</a:t>
            </a:r>
            <a:endParaRPr lang="en-US" sz="1200" dirty="0"/>
          </a:p>
        </p:txBody>
      </p:sp>
      <p:sp>
        <p:nvSpPr>
          <p:cNvPr id="3" name="Text 1"/>
          <p:cNvSpPr/>
          <p:nvPr/>
        </p:nvSpPr>
        <p:spPr>
          <a:xfrm>
            <a:off x="457200" y="1143000"/>
            <a:ext cx="8229600" cy="548640"/>
          </a:xfrm>
          <a:prstGeom prst="rect">
            <a:avLst/>
          </a:prstGeom>
          <a:noFill/>
          <a:ln/>
        </p:spPr>
        <p:txBody>
          <a:bodyPr wrap="square" rtlCol="0" anchor="ctr"/>
          <a:lstStyle/>
          <a:p>
            <a:pPr algn="ctr" indent="0" marL="0">
              <a:buNone/>
            </a:pPr>
            <a:r>
              <a:rPr lang="en-US" sz="2200" i="1" dirty="0">
                <a:solidFill>
                  <a:srgbClr val="1E2761"/>
                </a:solidFill>
                <a:latin typeface="Calibri" pitchFamily="34" charset="0"/>
                <a:ea typeface="Calibri" pitchFamily="34" charset="-122"/>
                <a:cs typeface="Calibri" pitchFamily="34" charset="-120"/>
              </a:rPr>
              <a:t>S9 — Authentification &amp; Autorisation</a:t>
            </a:r>
            <a:endParaRPr lang="en-US" sz="2200" dirty="0"/>
          </a:p>
        </p:txBody>
      </p:sp>
      <p:sp>
        <p:nvSpPr>
          <p:cNvPr id="4" name="Shape 2"/>
          <p:cNvSpPr/>
          <p:nvPr/>
        </p:nvSpPr>
        <p:spPr>
          <a:xfrm>
            <a:off x="4434840" y="2011680"/>
            <a:ext cx="274320" cy="1097280"/>
          </a:xfrm>
          <a:prstGeom prst="rect">
            <a:avLst/>
          </a:prstGeom>
          <a:solidFill>
            <a:srgbClr val="F96167"/>
          </a:solidFill>
          <a:ln w="12700">
            <a:solidFill>
              <a:srgbClr val="F96167"/>
            </a:solidFill>
            <a:prstDash val="solid"/>
          </a:ln>
        </p:spPr>
      </p:sp>
      <p:sp>
        <p:nvSpPr>
          <p:cNvPr id="5" name="Shape 3"/>
          <p:cNvSpPr/>
          <p:nvPr/>
        </p:nvSpPr>
        <p:spPr>
          <a:xfrm>
            <a:off x="4114800" y="2926080"/>
            <a:ext cx="914400" cy="548640"/>
          </a:xfrm>
          <a:prstGeom prst="downArrow">
            <a:avLst/>
          </a:prstGeom>
          <a:solidFill>
            <a:srgbClr val="F96167"/>
          </a:solidFill>
          <a:ln w="12700">
            <a:solidFill>
              <a:srgbClr val="F96167"/>
            </a:solidFill>
            <a:prstDash val="solid"/>
          </a:ln>
        </p:spPr>
      </p:sp>
      <p:sp>
        <p:nvSpPr>
          <p:cNvPr id="6" name="Text 4"/>
          <p:cNvSpPr/>
          <p:nvPr/>
        </p:nvSpPr>
        <p:spPr>
          <a:xfrm>
            <a:off x="457200" y="3657600"/>
            <a:ext cx="8229600" cy="365760"/>
          </a:xfrm>
          <a:prstGeom prst="rect">
            <a:avLst/>
          </a:prstGeom>
          <a:noFill/>
          <a:ln/>
        </p:spPr>
        <p:txBody>
          <a:bodyPr wrap="square" rtlCol="0" anchor="ctr"/>
          <a:lstStyle/>
          <a:p>
            <a:pPr algn="ctr" indent="0" marL="0">
              <a:buNone/>
            </a:pPr>
            <a:r>
              <a:rPr lang="en-US" sz="1200" b="1" spc="400" kern="0" dirty="0">
                <a:solidFill>
                  <a:srgbClr val="5A6378"/>
                </a:solidFill>
                <a:latin typeface="Calibri" pitchFamily="34" charset="0"/>
                <a:ea typeface="Calibri" pitchFamily="34" charset="-122"/>
                <a:cs typeface="Calibri" pitchFamily="34" charset="-120"/>
              </a:rPr>
              <a:t>ON PASSE À</a:t>
            </a:r>
            <a:endParaRPr lang="en-US" sz="1200" dirty="0"/>
          </a:p>
        </p:txBody>
      </p:sp>
      <p:sp>
        <p:nvSpPr>
          <p:cNvPr id="7" name="Text 5"/>
          <p:cNvSpPr/>
          <p:nvPr/>
        </p:nvSpPr>
        <p:spPr>
          <a:xfrm>
            <a:off x="457200" y="4069080"/>
            <a:ext cx="8229600" cy="548640"/>
          </a:xfrm>
          <a:prstGeom prst="rect">
            <a:avLst/>
          </a:prstGeom>
          <a:noFill/>
          <a:ln/>
        </p:spPr>
        <p:txBody>
          <a:bodyPr wrap="square" rtlCol="0" anchor="ctr"/>
          <a:lstStyle/>
          <a:p>
            <a:pPr algn="ctr" indent="0" marL="0">
              <a:buNone/>
            </a:pPr>
            <a:r>
              <a:rPr lang="en-US" sz="3000" b="1" dirty="0">
                <a:solidFill>
                  <a:srgbClr val="1E2761"/>
                </a:solidFill>
                <a:latin typeface="Calibri" pitchFamily="34" charset="0"/>
                <a:ea typeface="Calibri" pitchFamily="34" charset="-122"/>
                <a:cs typeface="Calibri" pitchFamily="34" charset="-120"/>
              </a:rPr>
              <a:t>S10 — Sagas et transactions distribuées</a:t>
            </a:r>
            <a:endParaRPr lang="en-US" sz="3000" dirty="0"/>
          </a:p>
        </p:txBody>
      </p:sp>
      <p:sp>
        <p:nvSpPr>
          <p:cNvPr id="8" name="Text 6"/>
          <p:cNvSpPr/>
          <p:nvPr/>
        </p:nvSpPr>
        <p:spPr>
          <a:xfrm>
            <a:off x="457200" y="4709160"/>
            <a:ext cx="8229600" cy="365760"/>
          </a:xfrm>
          <a:prstGeom prst="rect">
            <a:avLst/>
          </a:prstGeom>
          <a:noFill/>
          <a:ln/>
        </p:spPr>
        <p:txBody>
          <a:bodyPr wrap="square" rtlCol="0" anchor="ctr"/>
          <a:lstStyle/>
          <a:p>
            <a:pPr algn="ctr" indent="0" marL="0">
              <a:buNone/>
            </a:pPr>
            <a:r>
              <a:rPr lang="en-US" sz="1300" i="1" dirty="0">
                <a:solidFill>
                  <a:srgbClr val="5A6378"/>
                </a:solidFill>
                <a:latin typeface="Calibri" pitchFamily="34" charset="0"/>
                <a:ea typeface="Calibri" pitchFamily="34" charset="-122"/>
                <a:cs typeface="Calibri" pitchFamily="34" charset="-120"/>
              </a:rPr>
              <a:t>On sait qui parle à qui. Maintenant : comment garantir la cohérence quand une action touche plusieurs services ?</a:t>
            </a:r>
            <a:endParaRPr lang="en-US" sz="1300" dirty="0"/>
          </a:p>
        </p:txBody>
      </p:sp>
      <p:sp>
        <p:nvSpPr>
          <p:cNvPr id="9" name="Text 7"/>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4572000" cy="27432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DEUXIÈME SÉANCE • 1H45 • COURS</a:t>
            </a:r>
            <a:endParaRPr lang="en-US" sz="1000" dirty="0"/>
          </a:p>
        </p:txBody>
      </p:sp>
      <p:sp>
        <p:nvSpPr>
          <p:cNvPr id="3" name="Text 1"/>
          <p:cNvSpPr/>
          <p:nvPr/>
        </p:nvSpPr>
        <p:spPr>
          <a:xfrm>
            <a:off x="8229600" y="3657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19</a:t>
            </a:r>
            <a:endParaRPr lang="en-US" sz="1000" dirty="0"/>
          </a:p>
        </p:txBody>
      </p:sp>
      <p:sp>
        <p:nvSpPr>
          <p:cNvPr id="4" name="Text 2"/>
          <p:cNvSpPr/>
          <p:nvPr/>
        </p:nvSpPr>
        <p:spPr>
          <a:xfrm>
            <a:off x="457200" y="1645920"/>
            <a:ext cx="8229600"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S10 — Sagas et transactions distribuées</a:t>
            </a:r>
            <a:endParaRPr lang="en-US" sz="4000" dirty="0"/>
          </a:p>
        </p:txBody>
      </p:sp>
      <p:sp>
        <p:nvSpPr>
          <p:cNvPr id="5" name="Text 3"/>
          <p:cNvSpPr/>
          <p:nvPr/>
        </p:nvSpPr>
        <p:spPr>
          <a:xfrm>
            <a:off x="914400" y="3200400"/>
            <a:ext cx="7315200" cy="640080"/>
          </a:xfrm>
          <a:prstGeom prst="rect">
            <a:avLst/>
          </a:prstGeom>
          <a:noFill/>
          <a:ln/>
        </p:spPr>
        <p:txBody>
          <a:bodyPr wrap="square"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ACID est mort, vive BASE</a:t>
            </a:r>
            <a:endParaRPr lang="en-US" sz="1800" dirty="0"/>
          </a:p>
        </p:txBody>
      </p:sp>
      <p:sp>
        <p:nvSpPr>
          <p:cNvPr id="6" name="Shape 4"/>
          <p:cNvSpPr/>
          <p:nvPr/>
        </p:nvSpPr>
        <p:spPr>
          <a:xfrm>
            <a:off x="4114800" y="4572000"/>
            <a:ext cx="914400" cy="45720"/>
          </a:xfrm>
          <a:prstGeom prst="rect">
            <a:avLst/>
          </a:prstGeom>
          <a:solidFill>
            <a:srgbClr val="F96167"/>
          </a:solidFill>
          <a:ln w="12700">
            <a:solidFill>
              <a:srgbClr val="F96167"/>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AU MENU DE S10</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20</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Programme de la séance</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Le problème : transactions multi-services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ACID vs BASE — pourquoi ACID ne marche plus en distribué</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Les deux styles de Sagas : Orchestration vs Chorégraphie</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La compensation : annuler proprement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Outbox pattern : atomicité event + data</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Pièges classiques et outils du marché</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C'est le sujet le plus dur du module. Sortez les schémas, on va dessiner.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7951C"/>
          </a:solidFill>
          <a:ln w="12700">
            <a:solidFill>
              <a:srgbClr val="C7951C"/>
            </a:solidFill>
            <a:prstDash val="solid"/>
          </a:ln>
        </p:spPr>
      </p:sp>
      <p:sp>
        <p:nvSpPr>
          <p:cNvPr id="3" name="Text 1"/>
          <p:cNvSpPr/>
          <p:nvPr/>
        </p:nvSpPr>
        <p:spPr>
          <a:xfrm>
            <a:off x="457200" y="274320"/>
            <a:ext cx="6400800" cy="320040"/>
          </a:xfrm>
          <a:prstGeom prst="rect">
            <a:avLst/>
          </a:prstGeom>
          <a:noFill/>
          <a:ln/>
        </p:spPr>
        <p:txBody>
          <a:bodyPr wrap="square" rtlCol="0" anchor="ctr"/>
          <a:lstStyle/>
          <a:p>
            <a:pPr indent="0" marL="0">
              <a:buNone/>
            </a:pPr>
            <a:r>
              <a:rPr lang="en-US" sz="1100" b="1" spc="300" kern="0" dirty="0">
                <a:solidFill>
                  <a:srgbClr val="C7951C"/>
                </a:solidFill>
                <a:latin typeface="Calibri" pitchFamily="34" charset="0"/>
                <a:ea typeface="Calibri" pitchFamily="34" charset="-122"/>
                <a:cs typeface="Calibri" pitchFamily="34" charset="-120"/>
              </a:rPr>
              <a:t>📖 DICO — À GARDER SOUS LES YEUX</a:t>
            </a:r>
            <a:endParaRPr lang="en-US" sz="11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21</a:t>
            </a:r>
            <a:endParaRPr lang="en-US" sz="1000" dirty="0"/>
          </a:p>
        </p:txBody>
      </p:sp>
      <p:sp>
        <p:nvSpPr>
          <p:cNvPr id="5" name="Text 3"/>
          <p:cNvSpPr/>
          <p:nvPr/>
        </p:nvSpPr>
        <p:spPr>
          <a:xfrm>
            <a:off x="457200" y="594360"/>
            <a:ext cx="8229600" cy="45720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Dico S10 — Sagas et cohérence</a:t>
            </a:r>
            <a:endParaRPr lang="en-US" sz="2200" dirty="0"/>
          </a:p>
        </p:txBody>
      </p:sp>
      <p:sp>
        <p:nvSpPr>
          <p:cNvPr id="6" name="Text 4"/>
          <p:cNvSpPr/>
          <p:nvPr/>
        </p:nvSpPr>
        <p:spPr>
          <a:xfrm>
            <a:off x="457200" y="100584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Le vocabulaire des transactions distribuées</a:t>
            </a:r>
            <a:endParaRPr lang="en-US" sz="1100" dirty="0"/>
          </a:p>
        </p:txBody>
      </p:sp>
      <p:sp>
        <p:nvSpPr>
          <p:cNvPr id="7" name="Text 5"/>
          <p:cNvSpPr/>
          <p:nvPr/>
        </p:nvSpPr>
        <p:spPr>
          <a:xfrm>
            <a:off x="457200" y="1325880"/>
            <a:ext cx="8229600" cy="228600"/>
          </a:xfrm>
          <a:prstGeom prst="rect">
            <a:avLst/>
          </a:prstGeom>
          <a:noFill/>
          <a:ln/>
        </p:spPr>
        <p:txBody>
          <a:bodyPr wrap="square" rtlCol="0" anchor="ctr"/>
          <a:lstStyle/>
          <a:p>
            <a:pPr indent="0" marL="0">
              <a:buNone/>
            </a:pPr>
            <a:r>
              <a:rPr lang="en-US" sz="1000" b="1" spc="200" kern="0" dirty="0">
                <a:solidFill>
                  <a:srgbClr val="2E7D32"/>
                </a:solidFill>
                <a:latin typeface="Calibri" pitchFamily="34" charset="0"/>
                <a:ea typeface="Calibri" pitchFamily="34" charset="-122"/>
                <a:cs typeface="Calibri" pitchFamily="34" charset="-120"/>
              </a:rPr>
              <a:t>⚡ NOUVEAUX TERMES</a:t>
            </a:r>
            <a:endParaRPr lang="en-US" sz="1000" dirty="0"/>
          </a:p>
        </p:txBody>
      </p:sp>
      <p:sp>
        <p:nvSpPr>
          <p:cNvPr id="8" name="Text 6"/>
          <p:cNvSpPr/>
          <p:nvPr/>
        </p:nvSpPr>
        <p:spPr>
          <a:xfrm>
            <a:off x="45720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Saga</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séquence de transactions locales avec compensation</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Transaction locale</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transaction ACID dans un seul service</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Compensation</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action qui défait une transaction locale précédente</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Orchestration</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un coordinateur central pilote les étapes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Chorégraphie</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les services réagissent à des événements, sans chef</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Outbox pattern</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publier event + sauver entité dans MÊME transaction</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Inbox pattern</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consommer un event de façon idempotente</a:t>
            </a:r>
            <a:endParaRPr lang="en-US" sz="1000" dirty="0"/>
          </a:p>
        </p:txBody>
      </p:sp>
      <p:sp>
        <p:nvSpPr>
          <p:cNvPr id="9" name="Text 7"/>
          <p:cNvSpPr/>
          <p:nvPr/>
        </p:nvSpPr>
        <p:spPr>
          <a:xfrm>
            <a:off x="466344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Event sourcing</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stocker la séquence d'events plutôt que l'état</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CQRS</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Command Query Responsibility Segregation</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ACID</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Atomic, Consistent, Isolated, Durable (BD classiques)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BASE</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Basically Available, Soft state, Eventually consistent</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Eventual consistency</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convergence à terme, pas instantanée</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2PC</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Two-Phase Commit, archaïque en micro-services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Camunda / Temporal</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moteurs d'orchestration de workflows</a:t>
            </a:r>
            <a:endParaRPr lang="en-US" sz="1000" dirty="0"/>
          </a:p>
        </p:txBody>
      </p:sp>
      <p:sp>
        <p:nvSpPr>
          <p:cNvPr id="10" name="Shape 8"/>
          <p:cNvSpPr/>
          <p:nvPr/>
        </p:nvSpPr>
        <p:spPr>
          <a:xfrm>
            <a:off x="457200" y="3977640"/>
            <a:ext cx="8229600" cy="960120"/>
          </a:xfrm>
          <a:prstGeom prst="rect">
            <a:avLst/>
          </a:prstGeom>
          <a:solidFill>
            <a:srgbClr val="F4F4F4"/>
          </a:solidFill>
          <a:ln w="6350">
            <a:solidFill>
              <a:srgbClr val="5A6378"/>
            </a:solidFill>
            <a:prstDash val="solid"/>
          </a:ln>
        </p:spPr>
      </p:sp>
      <p:sp>
        <p:nvSpPr>
          <p:cNvPr id="11" name="Text 9"/>
          <p:cNvSpPr/>
          <p:nvPr/>
        </p:nvSpPr>
        <p:spPr>
          <a:xfrm>
            <a:off x="640080" y="4023360"/>
            <a:ext cx="7863840" cy="228600"/>
          </a:xfrm>
          <a:prstGeom prst="rect">
            <a:avLst/>
          </a:prstGeom>
          <a:noFill/>
          <a:ln/>
        </p:spPr>
        <p:txBody>
          <a:bodyPr wrap="square" rtlCol="0" anchor="ctr"/>
          <a:lstStyle/>
          <a:p>
            <a:pPr indent="0" marL="0">
              <a:buNone/>
            </a:pPr>
            <a:r>
              <a:rPr lang="en-US" sz="900" b="1" spc="200" kern="0" dirty="0">
                <a:solidFill>
                  <a:srgbClr val="5A6378"/>
                </a:solidFill>
                <a:latin typeface="Calibri" pitchFamily="34" charset="0"/>
                <a:ea typeface="Calibri" pitchFamily="34" charset="-122"/>
                <a:cs typeface="Calibri" pitchFamily="34" charset="-120"/>
              </a:rPr>
              <a:t>↺ RAPPEL — DÉJÀ VUS PRÉCÉDEMMENT</a:t>
            </a:r>
            <a:endParaRPr lang="en-US" sz="900" dirty="0"/>
          </a:p>
        </p:txBody>
      </p:sp>
      <p:sp>
        <p:nvSpPr>
          <p:cNvPr id="12" name="Text 10"/>
          <p:cNvSpPr/>
          <p:nvPr/>
        </p:nvSpPr>
        <p:spPr>
          <a:xfrm>
            <a:off x="640080" y="4251960"/>
            <a:ext cx="7863840" cy="640080"/>
          </a:xfrm>
          <a:prstGeom prst="rect">
            <a:avLst/>
          </a:prstGeom>
          <a:noFill/>
          <a:ln/>
        </p:spPr>
        <p:txBody>
          <a:bodyPr wrap="square" rtlCol="0" anchor="ctr"/>
          <a:lstStyle/>
          <a:p>
            <a:pPr indent="0" marL="0">
              <a:buNone/>
            </a:pPr>
            <a:r>
              <a:rPr lang="en-US" sz="900" b="1" dirty="0">
                <a:solidFill>
                  <a:srgbClr val="5A6378"/>
                </a:solidFill>
                <a:latin typeface="Calibri" pitchFamily="34" charset="0"/>
                <a:ea typeface="Calibri" pitchFamily="34" charset="-122"/>
                <a:cs typeface="Calibri" pitchFamily="34" charset="-120"/>
              </a:rPr>
              <a:t>Vu précédemment : </a:t>
            </a:r>
            <a:pPr indent="0" marL="0">
              <a:buNone/>
            </a:pPr>
            <a:r>
              <a:rPr lang="en-US" sz="900" b="1" dirty="0">
                <a:solidFill>
                  <a:srgbClr val="1E2761"/>
                </a:solidFill>
                <a:latin typeface="Calibri" pitchFamily="34" charset="0"/>
                <a:ea typeface="Calibri" pitchFamily="34" charset="-122"/>
                <a:cs typeface="Calibri" pitchFamily="34" charset="-120"/>
              </a:rPr>
              <a:t>Communication inter-services</a:t>
            </a:r>
            <a:pPr indent="0" marL="0">
              <a:buNone/>
            </a:pPr>
            <a:r>
              <a:rPr lang="en-US" sz="900" dirty="0">
                <a:solidFill>
                  <a:srgbClr val="5A6378"/>
                </a:solidFill>
                <a:latin typeface="Calibri" pitchFamily="34" charset="0"/>
                <a:ea typeface="Calibri" pitchFamily="34" charset="-122"/>
                <a:cs typeface="Calibri" pitchFamily="34" charset="-120"/>
              </a:rPr>
              <a:t> · </a:t>
            </a:r>
            <a:pPr indent="0" marL="0">
              <a:buNone/>
            </a:pPr>
            <a:r>
              <a:rPr lang="en-US" sz="900" b="1" dirty="0">
                <a:solidFill>
                  <a:srgbClr val="1E2761"/>
                </a:solidFill>
                <a:latin typeface="Calibri" pitchFamily="34" charset="0"/>
                <a:ea typeface="Calibri" pitchFamily="34" charset="-122"/>
                <a:cs typeface="Calibri" pitchFamily="34" charset="-120"/>
              </a:rPr>
              <a:t>Idempotence</a:t>
            </a:r>
            <a:pPr indent="0" marL="0">
              <a:buNone/>
            </a:pPr>
            <a:r>
              <a:rPr lang="en-US" sz="900" dirty="0">
                <a:solidFill>
                  <a:srgbClr val="5A6378"/>
                </a:solidFill>
                <a:latin typeface="Calibri" pitchFamily="34" charset="0"/>
                <a:ea typeface="Calibri" pitchFamily="34" charset="-122"/>
                <a:cs typeface="Calibri" pitchFamily="34" charset="-120"/>
              </a:rPr>
              <a:t> · </a:t>
            </a:r>
            <a:pPr indent="0" marL="0">
              <a:buNone/>
            </a:pPr>
            <a:r>
              <a:rPr lang="en-US" sz="900" b="1" dirty="0">
                <a:solidFill>
                  <a:srgbClr val="1E2761"/>
                </a:solidFill>
                <a:latin typeface="Calibri" pitchFamily="34" charset="0"/>
                <a:ea typeface="Calibri" pitchFamily="34" charset="-122"/>
                <a:cs typeface="Calibri" pitchFamily="34" charset="-120"/>
              </a:rPr>
              <a:t>Brokers (RabbitMQ, Kafka)</a:t>
            </a:r>
            <a:pPr indent="0" marL="0">
              <a:buNone/>
            </a:pPr>
            <a:r>
              <a:rPr lang="en-US" sz="900" dirty="0">
                <a:solidFill>
                  <a:srgbClr val="5A6378"/>
                </a:solidFill>
                <a:latin typeface="Calibri" pitchFamily="34" charset="0"/>
                <a:ea typeface="Calibri" pitchFamily="34" charset="-122"/>
                <a:cs typeface="Calibri" pitchFamily="34" charset="-120"/>
              </a:rPr>
              <a:t> · </a:t>
            </a:r>
            <a:pPr indent="0" marL="0">
              <a:buNone/>
            </a:pPr>
            <a:r>
              <a:rPr lang="en-US" sz="900" b="1" dirty="0">
                <a:solidFill>
                  <a:srgbClr val="1E2761"/>
                </a:solidFill>
                <a:latin typeface="Calibri" pitchFamily="34" charset="0"/>
                <a:ea typeface="Calibri" pitchFamily="34" charset="-122"/>
                <a:cs typeface="Calibri" pitchFamily="34" charset="-120"/>
              </a:rPr>
              <a:t>Retry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1/5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22</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Un client passe commande sur FlexShop :</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1. Service Commande crée la commande</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2. Service Paiement débite la CB</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3. Service Stock décrémente l'inventaire</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4. Service Logistique programme la livraison</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Étape 3 échoue (stock épuisé). Que se passe-t-il pour le paiement déjà débité ?</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Comment annuler proprement ce qui a déjà été fait ?</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23</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 problème des transactions distribuées</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Dans un monolithe, une transaction ACID garantit tout-ou-rien. En micro-services, chaque service a sa BD : plus de transaction unique possible.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Monolithe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BEGIN; INSERT order; UPDATE stock; INSERT payment; COMMIT. Si une étape échoue, ROLLBACK.</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Micro-services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chaque appel est une transaction locale. Aucune transaction n'englobe les autres.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Solution naïve (2PC)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Two-Phase Commit. Trop bloquant, casse l'autonomie des services. ABANDONNÉ.</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Solution moderne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Sagas — séquence de transactions locales avec actions de compensation.</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En distribué, on accepte BASE (cohérence à terme) plutôt que ACID (cohérence immédiate). Sagas = pattern de référence.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2/5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24</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Vous devez implémenter la saga "Passer commande".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Deux options :</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A) Un service "OrderSaga" appelle Paiement, puis Stock, puis Logistique</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B) Commande publie un événement "OrderCreated". Paiement, Stock, Logistique réagissent</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Quelle est la différence fondamentale ? Avantages / inconvénients de chacune ?</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VOTE À MAIN LEVÉE</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25</a:t>
            </a:r>
            <a:endParaRPr lang="en-US" sz="1000" dirty="0"/>
          </a:p>
        </p:txBody>
      </p:sp>
      <p:sp>
        <p:nvSpPr>
          <p:cNvPr id="5" name="Text 3"/>
          <p:cNvSpPr/>
          <p:nvPr/>
        </p:nvSpPr>
        <p:spPr>
          <a:xfrm>
            <a:off x="457200" y="1097280"/>
            <a:ext cx="8229600" cy="731520"/>
          </a:xfrm>
          <a:prstGeom prst="rect">
            <a:avLst/>
          </a:prstGeom>
          <a:noFill/>
          <a:ln/>
        </p:spPr>
        <p:txBody>
          <a:bodyPr wrap="square" rtlCol="0" anchor="ctr"/>
          <a:lstStyle/>
          <a:p>
            <a:pPr algn="ctr" indent="0" marL="0">
              <a:buNone/>
            </a:pPr>
            <a:r>
              <a:rPr lang="en-US" sz="2200" b="1" dirty="0">
                <a:solidFill>
                  <a:srgbClr val="1E2761"/>
                </a:solidFill>
                <a:latin typeface="Calibri" pitchFamily="34" charset="0"/>
                <a:ea typeface="Calibri" pitchFamily="34" charset="-122"/>
                <a:cs typeface="Calibri" pitchFamily="34" charset="-120"/>
              </a:rPr>
              <a:t>Pour une saga complexe (10+ services), tu choisirais...</a:t>
            </a:r>
            <a:endParaRPr lang="en-US" sz="2200" dirty="0"/>
          </a:p>
        </p:txBody>
      </p:sp>
      <p:sp>
        <p:nvSpPr>
          <p:cNvPr id="6" name="Shape 4"/>
          <p:cNvSpPr/>
          <p:nvPr/>
        </p:nvSpPr>
        <p:spPr>
          <a:xfrm>
            <a:off x="914400" y="2286000"/>
            <a:ext cx="3474720" cy="2011680"/>
          </a:xfrm>
          <a:prstGeom prst="rect">
            <a:avLst/>
          </a:prstGeom>
          <a:solidFill>
            <a:srgbClr val="FFFFFF"/>
          </a:solidFill>
          <a:ln w="25400">
            <a:solidFill>
              <a:srgbClr val="1E2761"/>
            </a:solidFill>
            <a:prstDash val="solid"/>
          </a:ln>
        </p:spPr>
      </p:sp>
      <p:sp>
        <p:nvSpPr>
          <p:cNvPr id="7" name="Shape 5"/>
          <p:cNvSpPr/>
          <p:nvPr/>
        </p:nvSpPr>
        <p:spPr>
          <a:xfrm>
            <a:off x="2331720" y="2468880"/>
            <a:ext cx="640080" cy="640080"/>
          </a:xfrm>
          <a:prstGeom prst="ellipse">
            <a:avLst/>
          </a:prstGeom>
          <a:solidFill>
            <a:srgbClr val="1E2761"/>
          </a:solidFill>
          <a:ln w="12700">
            <a:solidFill>
              <a:srgbClr val="1E2761"/>
            </a:solidFill>
            <a:prstDash val="solid"/>
          </a:ln>
        </p:spPr>
      </p:sp>
      <p:sp>
        <p:nvSpPr>
          <p:cNvPr id="8" name="Text 6"/>
          <p:cNvSpPr/>
          <p:nvPr/>
        </p:nvSpPr>
        <p:spPr>
          <a:xfrm>
            <a:off x="2331720" y="24688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9" name="Text 7"/>
          <p:cNvSpPr/>
          <p:nvPr/>
        </p:nvSpPr>
        <p:spPr>
          <a:xfrm>
            <a:off x="1051560" y="3246120"/>
            <a:ext cx="3200400" cy="1005840"/>
          </a:xfrm>
          <a:prstGeom prst="rect">
            <a:avLst/>
          </a:prstGeom>
          <a:noFill/>
          <a:ln/>
        </p:spPr>
        <p:txBody>
          <a:bodyPr wrap="square"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Orchestration (coordinateur central)</a:t>
            </a:r>
            <a:endParaRPr lang="en-US" sz="1400" dirty="0"/>
          </a:p>
        </p:txBody>
      </p:sp>
      <p:sp>
        <p:nvSpPr>
          <p:cNvPr id="10" name="Shape 8"/>
          <p:cNvSpPr/>
          <p:nvPr/>
        </p:nvSpPr>
        <p:spPr>
          <a:xfrm>
            <a:off x="4754880" y="2286000"/>
            <a:ext cx="3474720" cy="2011680"/>
          </a:xfrm>
          <a:prstGeom prst="rect">
            <a:avLst/>
          </a:prstGeom>
          <a:solidFill>
            <a:srgbClr val="FFFFFF"/>
          </a:solidFill>
          <a:ln w="25400">
            <a:solidFill>
              <a:srgbClr val="1E2761"/>
            </a:solidFill>
            <a:prstDash val="solid"/>
          </a:ln>
        </p:spPr>
      </p:sp>
      <p:sp>
        <p:nvSpPr>
          <p:cNvPr id="11" name="Shape 9"/>
          <p:cNvSpPr/>
          <p:nvPr/>
        </p:nvSpPr>
        <p:spPr>
          <a:xfrm>
            <a:off x="6172200" y="2468880"/>
            <a:ext cx="640080" cy="640080"/>
          </a:xfrm>
          <a:prstGeom prst="ellipse">
            <a:avLst/>
          </a:prstGeom>
          <a:solidFill>
            <a:srgbClr val="1E2761"/>
          </a:solidFill>
          <a:ln w="12700">
            <a:solidFill>
              <a:srgbClr val="1E2761"/>
            </a:solidFill>
            <a:prstDash val="solid"/>
          </a:ln>
        </p:spPr>
      </p:sp>
      <p:sp>
        <p:nvSpPr>
          <p:cNvPr id="12" name="Text 10"/>
          <p:cNvSpPr/>
          <p:nvPr/>
        </p:nvSpPr>
        <p:spPr>
          <a:xfrm>
            <a:off x="6172200" y="24688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3" name="Text 11"/>
          <p:cNvSpPr/>
          <p:nvPr/>
        </p:nvSpPr>
        <p:spPr>
          <a:xfrm>
            <a:off x="4892040" y="3246120"/>
            <a:ext cx="3200400" cy="1005840"/>
          </a:xfrm>
          <a:prstGeom prst="rect">
            <a:avLst/>
          </a:prstGeom>
          <a:noFill/>
          <a:ln/>
        </p:spPr>
        <p:txBody>
          <a:bodyPr wrap="square"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Chorégraphie (events distribués)</a:t>
            </a:r>
            <a:endParaRPr lang="en-US" sz="1400" dirty="0"/>
          </a:p>
        </p:txBody>
      </p:sp>
      <p:sp>
        <p:nvSpPr>
          <p:cNvPr id="14" name="Text 12"/>
          <p:cNvSpPr/>
          <p:nvPr/>
        </p:nvSpPr>
        <p:spPr>
          <a:xfrm>
            <a:off x="457200" y="4572000"/>
            <a:ext cx="8229600" cy="274320"/>
          </a:xfrm>
          <a:prstGeom prst="rect">
            <a:avLst/>
          </a:prstGeom>
          <a:noFill/>
          <a:ln/>
        </p:spPr>
        <p:txBody>
          <a:bodyPr wrap="square" rtlCol="0" anchor="ctr"/>
          <a:lstStyle/>
          <a:p>
            <a:pPr algn="ctr" indent="0" marL="0">
              <a:buNone/>
            </a:pPr>
            <a:r>
              <a:rPr lang="en-US" sz="1100" i="1" dirty="0">
                <a:solidFill>
                  <a:srgbClr val="5A6378"/>
                </a:solidFill>
                <a:latin typeface="Calibri" pitchFamily="34" charset="0"/>
                <a:ea typeface="Calibri" pitchFamily="34" charset="-122"/>
                <a:cs typeface="Calibri" pitchFamily="34" charset="-120"/>
              </a:rPr>
              <a:t>Pas de bonne réponse — défendez votre choix</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26</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Orchestration vs Chorégraphie</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Deux styles de Sagas. L'un a un chef d'orchestre, l'autre danse en regardant les autres. Chacun a son cas d'usage.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Orchestration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un service coordinateur appelle les autres dans l'ordre. Visible, debug facile. Mais couplage au coordinateur.</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Chorégraphie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chaque service réagit aux événements des autres. Découplé. Mais difficile à suivre, debug complexe.</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Orchestration utile pour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workflows complexes, audit nécessaire, étapes peu nombreuses (3-5).</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Chorégraphie utile pour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événements simples, beaucoup de consommateurs, scalabilité maximale.</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Au-delà de 5-7 étapes : orchestration plus saine. Pour pub/sub simple : chorégraphie suffit.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3/5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27</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Saga : Commande → Paiement OK → Stock OK → Livraison KO (transporteur en panne).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Il faut compenser. Vous remboursez le paiement et restituez le stock.</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Le remboursement échoue lui aussi.</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Que faire ?</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Comment garantir que la compensation marche TOUJOURS ?</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28</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La compensation : annuler proprement</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Chaque étape doit avoir une action de compensation associée. Et cette compensation DOIT être idempotente et fiable.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Règle d'or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toute transaction Tn a une compensation Cn. Si Tn+1 échoue, on rejoue Cn, Cn-1, ..., C1.</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Idempotence cruciale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la compensation peut être rejouée plusieurs fois (retries) sans problème.</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Pas de rollback magique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compensation = nouvelle transaction qui INVERSE l'effet (rembourser ≠ supprimer le paiement).</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Si compensation échoue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retry avec backoff, puis Dead Letter Queue, puis alerte humaine.</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Compensation = transaction inverse, pas rollback. Doit être idempotente et résiliente.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4/5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29</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Votre code : 1) sauve la Commande en BD, 2) publie l'événement "OrderCreated" dans Kafka.</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Le service crashe entre 1 et 2.</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Redémarrage : la commande est en BD, mais l'événement n'a JAMAIS été publié. Personne ne le sait.</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Comment garantir que les deux opérations sont atomiques ?</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30</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 pattern Outbox</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Plutôt que de publier dans le broker en direct, on écrit l'event dans une table 'outbox' dans la MÊME transaction que la donnée. Un publisher dédié lit cette table et publie.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Étape 1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transaction unique : INSERT order + INSERT outbox_event. Atomique.</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Étape 2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un worker (poller ou CDC) lit outbox_event et publie dans Kafka.</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Étape 3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marque l'event comme publié. Si crash entre publish et marquage : on republie (idempotence côté consommateur).</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Inbox côté consommateur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stocke l'event_id reçu pour dédoublonner.</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Outbox + Inbox = at-least-once garanti, déduplication garantie. Standard moderne.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5/5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31</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Vous lancez votre saga en prod. Tout marche pendant 1 mois.</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Puis un jour, vous découvrez : une commande sur 1000 reste "en attente" indéfiniment. Le client est facturé, mais aucune livraison.</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Quelles peuvent être les causes ?</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Listez les anti-patterns Sagas qui peuvent causer ce problème.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32</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Les pièges Sagas à éviter</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Les Sagas sont puissantes mais piègeuses. Voici les erreurs classiques à anticiper.</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Compensation non-atomique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si une compensation peut elle-même échouer partiellement, on s'enfonce.</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Pas de timeout global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saga peut rester bloquée indéfiniment. Toujours fixer un délai max.</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Pas de monitoring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sans dashboard de l'état des sagas, on découvre les problèmes par les clients.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Étapes non-idempotentes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retries automatiques + non-idempotence = doublons garantis.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Trop d'étapes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saga avec 15 étapes = ingérable. Limiter à 5-7 max, sinon repenser le découpage.</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Idempotence + timeout + monitoring + compensation testée. Tester les chemins d'erreur AUTANT que les chemins heureux.</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CE QU'ON A VU EN S10</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33</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Les 5 idées clés</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En distribué : BASE (eventual consistency) remplace ACID</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Saga = transactions locales + compensations associées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Orchestration (coordinateur) vs Chorégraphie (events)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Outbox pattern : publier event et sauver donnée atomiquement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Idempotence + timeout + monitoring = trio de survie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CADCFC"/>
        </a:solidFill>
      </p:bgPr>
    </p:bg>
    <p:spTree>
      <p:nvGrpSpPr>
        <p:cNvPr id="1" name=""/>
        <p:cNvGrpSpPr/>
        <p:nvPr/>
      </p:nvGrpSpPr>
      <p:grpSpPr>
        <a:xfrm>
          <a:off x="0" y="0"/>
          <a:ext cx="0" cy="0"/>
          <a:chOff x="0" y="0"/>
          <a:chExt cx="0" cy="0"/>
        </a:xfrm>
      </p:grpSpPr>
      <p:sp>
        <p:nvSpPr>
          <p:cNvPr id="2" name="Text 0"/>
          <p:cNvSpPr/>
          <p:nvPr/>
        </p:nvSpPr>
        <p:spPr>
          <a:xfrm>
            <a:off x="457200" y="731520"/>
            <a:ext cx="8229600" cy="365760"/>
          </a:xfrm>
          <a:prstGeom prst="rect">
            <a:avLst/>
          </a:prstGeom>
          <a:noFill/>
          <a:ln/>
        </p:spPr>
        <p:txBody>
          <a:bodyPr wrap="square" rtlCol="0" anchor="ctr"/>
          <a:lstStyle/>
          <a:p>
            <a:pPr algn="ctr" indent="0" marL="0">
              <a:buNone/>
            </a:pPr>
            <a:r>
              <a:rPr lang="en-US" sz="1200" b="1" spc="400" kern="0" dirty="0">
                <a:solidFill>
                  <a:srgbClr val="5A6378"/>
                </a:solidFill>
                <a:latin typeface="Calibri" pitchFamily="34" charset="0"/>
                <a:ea typeface="Calibri" pitchFamily="34" charset="-122"/>
                <a:cs typeface="Calibri" pitchFamily="34" charset="-120"/>
              </a:rPr>
              <a:t>ON VIENT DE FINIR</a:t>
            </a:r>
            <a:endParaRPr lang="en-US" sz="1200" dirty="0"/>
          </a:p>
        </p:txBody>
      </p:sp>
      <p:sp>
        <p:nvSpPr>
          <p:cNvPr id="3" name="Text 1"/>
          <p:cNvSpPr/>
          <p:nvPr/>
        </p:nvSpPr>
        <p:spPr>
          <a:xfrm>
            <a:off x="457200" y="1143000"/>
            <a:ext cx="8229600" cy="548640"/>
          </a:xfrm>
          <a:prstGeom prst="rect">
            <a:avLst/>
          </a:prstGeom>
          <a:noFill/>
          <a:ln/>
        </p:spPr>
        <p:txBody>
          <a:bodyPr wrap="square" rtlCol="0" anchor="ctr"/>
          <a:lstStyle/>
          <a:p>
            <a:pPr algn="ctr" indent="0" marL="0">
              <a:buNone/>
            </a:pPr>
            <a:r>
              <a:rPr lang="en-US" sz="2200" i="1" dirty="0">
                <a:solidFill>
                  <a:srgbClr val="1E2761"/>
                </a:solidFill>
                <a:latin typeface="Calibri" pitchFamily="34" charset="0"/>
                <a:ea typeface="Calibri" pitchFamily="34" charset="-122"/>
                <a:cs typeface="Calibri" pitchFamily="34" charset="-120"/>
              </a:rPr>
              <a:t>S10 — Sagas et transactions distribuées</a:t>
            </a:r>
            <a:endParaRPr lang="en-US" sz="2200" dirty="0"/>
          </a:p>
        </p:txBody>
      </p:sp>
      <p:sp>
        <p:nvSpPr>
          <p:cNvPr id="4" name="Shape 2"/>
          <p:cNvSpPr/>
          <p:nvPr/>
        </p:nvSpPr>
        <p:spPr>
          <a:xfrm>
            <a:off x="4434840" y="2011680"/>
            <a:ext cx="274320" cy="1097280"/>
          </a:xfrm>
          <a:prstGeom prst="rect">
            <a:avLst/>
          </a:prstGeom>
          <a:solidFill>
            <a:srgbClr val="F96167"/>
          </a:solidFill>
          <a:ln w="12700">
            <a:solidFill>
              <a:srgbClr val="F96167"/>
            </a:solidFill>
            <a:prstDash val="solid"/>
          </a:ln>
        </p:spPr>
      </p:sp>
      <p:sp>
        <p:nvSpPr>
          <p:cNvPr id="5" name="Shape 3"/>
          <p:cNvSpPr/>
          <p:nvPr/>
        </p:nvSpPr>
        <p:spPr>
          <a:xfrm>
            <a:off x="4114800" y="2926080"/>
            <a:ext cx="914400" cy="548640"/>
          </a:xfrm>
          <a:prstGeom prst="downArrow">
            <a:avLst/>
          </a:prstGeom>
          <a:solidFill>
            <a:srgbClr val="F96167"/>
          </a:solidFill>
          <a:ln w="12700">
            <a:solidFill>
              <a:srgbClr val="F96167"/>
            </a:solidFill>
            <a:prstDash val="solid"/>
          </a:ln>
        </p:spPr>
      </p:sp>
      <p:sp>
        <p:nvSpPr>
          <p:cNvPr id="6" name="Text 4"/>
          <p:cNvSpPr/>
          <p:nvPr/>
        </p:nvSpPr>
        <p:spPr>
          <a:xfrm>
            <a:off x="457200" y="3657600"/>
            <a:ext cx="8229600" cy="365760"/>
          </a:xfrm>
          <a:prstGeom prst="rect">
            <a:avLst/>
          </a:prstGeom>
          <a:noFill/>
          <a:ln/>
        </p:spPr>
        <p:txBody>
          <a:bodyPr wrap="square" rtlCol="0" anchor="ctr"/>
          <a:lstStyle/>
          <a:p>
            <a:pPr algn="ctr" indent="0" marL="0">
              <a:buNone/>
            </a:pPr>
            <a:r>
              <a:rPr lang="en-US" sz="1200" b="1" spc="400" kern="0" dirty="0">
                <a:solidFill>
                  <a:srgbClr val="5A6378"/>
                </a:solidFill>
                <a:latin typeface="Calibri" pitchFamily="34" charset="0"/>
                <a:ea typeface="Calibri" pitchFamily="34" charset="-122"/>
                <a:cs typeface="Calibri" pitchFamily="34" charset="-120"/>
              </a:rPr>
              <a:t>ON PASSE À</a:t>
            </a:r>
            <a:endParaRPr lang="en-US" sz="1200" dirty="0"/>
          </a:p>
        </p:txBody>
      </p:sp>
      <p:sp>
        <p:nvSpPr>
          <p:cNvPr id="7" name="Text 5"/>
          <p:cNvSpPr/>
          <p:nvPr/>
        </p:nvSpPr>
        <p:spPr>
          <a:xfrm>
            <a:off x="457200" y="4069080"/>
            <a:ext cx="8229600" cy="548640"/>
          </a:xfrm>
          <a:prstGeom prst="rect">
            <a:avLst/>
          </a:prstGeom>
          <a:noFill/>
          <a:ln/>
        </p:spPr>
        <p:txBody>
          <a:bodyPr wrap="square" rtlCol="0" anchor="ctr"/>
          <a:lstStyle/>
          <a:p>
            <a:pPr algn="ctr" indent="0" marL="0">
              <a:buNone/>
            </a:pPr>
            <a:r>
              <a:rPr lang="en-US" sz="3000" b="1" dirty="0">
                <a:solidFill>
                  <a:srgbClr val="1E2761"/>
                </a:solidFill>
                <a:latin typeface="Calibri" pitchFamily="34" charset="0"/>
                <a:ea typeface="Calibri" pitchFamily="34" charset="-122"/>
                <a:cs typeface="Calibri" pitchFamily="34" charset="-120"/>
              </a:rPr>
              <a:t>S11 — API Gateway</a:t>
            </a:r>
            <a:endParaRPr lang="en-US" sz="3000" dirty="0"/>
          </a:p>
        </p:txBody>
      </p:sp>
      <p:sp>
        <p:nvSpPr>
          <p:cNvPr id="8" name="Text 6"/>
          <p:cNvSpPr/>
          <p:nvPr/>
        </p:nvSpPr>
        <p:spPr>
          <a:xfrm>
            <a:off x="457200" y="4709160"/>
            <a:ext cx="8229600" cy="365760"/>
          </a:xfrm>
          <a:prstGeom prst="rect">
            <a:avLst/>
          </a:prstGeom>
          <a:noFill/>
          <a:ln/>
        </p:spPr>
        <p:txBody>
          <a:bodyPr wrap="square" rtlCol="0" anchor="ctr"/>
          <a:lstStyle/>
          <a:p>
            <a:pPr algn="ctr" indent="0" marL="0">
              <a:buNone/>
            </a:pPr>
            <a:r>
              <a:rPr lang="en-US" sz="1300" i="1" dirty="0">
                <a:solidFill>
                  <a:srgbClr val="5A6378"/>
                </a:solidFill>
                <a:latin typeface="Calibri" pitchFamily="34" charset="0"/>
                <a:ea typeface="Calibri" pitchFamily="34" charset="-122"/>
                <a:cs typeface="Calibri" pitchFamily="34" charset="-120"/>
              </a:rPr>
              <a:t>On sait sécuriser (S9) et garantir la cohérence (S10). Maintenant : par où entrent les clients ?</a:t>
            </a:r>
            <a:endParaRPr lang="en-US" sz="1300" dirty="0"/>
          </a:p>
        </p:txBody>
      </p:sp>
      <p:sp>
        <p:nvSpPr>
          <p:cNvPr id="9" name="Text 7"/>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4572000" cy="27432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TROISIÈME SÉANCE • 1H45 • COURS</a:t>
            </a:r>
            <a:endParaRPr lang="en-US" sz="1000" dirty="0"/>
          </a:p>
        </p:txBody>
      </p:sp>
      <p:sp>
        <p:nvSpPr>
          <p:cNvPr id="3" name="Text 1"/>
          <p:cNvSpPr/>
          <p:nvPr/>
        </p:nvSpPr>
        <p:spPr>
          <a:xfrm>
            <a:off x="8229600" y="3657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35</a:t>
            </a:r>
            <a:endParaRPr lang="en-US" sz="1000" dirty="0"/>
          </a:p>
        </p:txBody>
      </p:sp>
      <p:sp>
        <p:nvSpPr>
          <p:cNvPr id="4" name="Text 2"/>
          <p:cNvSpPr/>
          <p:nvPr/>
        </p:nvSpPr>
        <p:spPr>
          <a:xfrm>
            <a:off x="457200" y="1645920"/>
            <a:ext cx="8229600"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S11 — API Gateway</a:t>
            </a:r>
            <a:endParaRPr lang="en-US" sz="4000" dirty="0"/>
          </a:p>
        </p:txBody>
      </p:sp>
      <p:sp>
        <p:nvSpPr>
          <p:cNvPr id="5" name="Text 3"/>
          <p:cNvSpPr/>
          <p:nvPr/>
        </p:nvSpPr>
        <p:spPr>
          <a:xfrm>
            <a:off x="914400" y="3200400"/>
            <a:ext cx="7315200" cy="640080"/>
          </a:xfrm>
          <a:prstGeom prst="rect">
            <a:avLst/>
          </a:prstGeom>
          <a:noFill/>
          <a:ln/>
        </p:spPr>
        <p:txBody>
          <a:bodyPr wrap="square"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Traefik, Kong, le point d'entrée unique</a:t>
            </a:r>
            <a:endParaRPr lang="en-US" sz="1800" dirty="0"/>
          </a:p>
        </p:txBody>
      </p:sp>
      <p:sp>
        <p:nvSpPr>
          <p:cNvPr id="6" name="Shape 4"/>
          <p:cNvSpPr/>
          <p:nvPr/>
        </p:nvSpPr>
        <p:spPr>
          <a:xfrm>
            <a:off x="4114800" y="4572000"/>
            <a:ext cx="914400" cy="45720"/>
          </a:xfrm>
          <a:prstGeom prst="rect">
            <a:avLst/>
          </a:prstGeom>
          <a:solidFill>
            <a:srgbClr val="F96167"/>
          </a:solidFill>
          <a:ln w="12700">
            <a:solidFill>
              <a:srgbClr val="F96167"/>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AU MENU DE S11</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36</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Programme de la séance</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Pourquoi une Gateway et pas un accès direct aux services ?</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Les responsabilités d'une Gateway (routing, auth, rate limiting...)</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Traefik vs Kong vs Nginx — choix techniques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Configuration Traefik en pratique</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Service Mesh (Istio, Linkerd) — différence avec Gateway</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Pattern BFF (Backend For Frontend)</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Tout ce qu'on voit sera mis en place dans le TP S12 par l'équipe Platform.</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7951C"/>
          </a:solidFill>
          <a:ln w="12700">
            <a:solidFill>
              <a:srgbClr val="C7951C"/>
            </a:solidFill>
            <a:prstDash val="solid"/>
          </a:ln>
        </p:spPr>
      </p:sp>
      <p:sp>
        <p:nvSpPr>
          <p:cNvPr id="3" name="Text 1"/>
          <p:cNvSpPr/>
          <p:nvPr/>
        </p:nvSpPr>
        <p:spPr>
          <a:xfrm>
            <a:off x="457200" y="274320"/>
            <a:ext cx="6400800" cy="320040"/>
          </a:xfrm>
          <a:prstGeom prst="rect">
            <a:avLst/>
          </a:prstGeom>
          <a:noFill/>
          <a:ln/>
        </p:spPr>
        <p:txBody>
          <a:bodyPr wrap="square" rtlCol="0" anchor="ctr"/>
          <a:lstStyle/>
          <a:p>
            <a:pPr indent="0" marL="0">
              <a:buNone/>
            </a:pPr>
            <a:r>
              <a:rPr lang="en-US" sz="1100" b="1" spc="300" kern="0" dirty="0">
                <a:solidFill>
                  <a:srgbClr val="C7951C"/>
                </a:solidFill>
                <a:latin typeface="Calibri" pitchFamily="34" charset="0"/>
                <a:ea typeface="Calibri" pitchFamily="34" charset="-122"/>
                <a:cs typeface="Calibri" pitchFamily="34" charset="-120"/>
              </a:rPr>
              <a:t>📖 DICO — À GARDER SOUS LES YEUX</a:t>
            </a:r>
            <a:endParaRPr lang="en-US" sz="11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37</a:t>
            </a:r>
            <a:endParaRPr lang="en-US" sz="1000" dirty="0"/>
          </a:p>
        </p:txBody>
      </p:sp>
      <p:sp>
        <p:nvSpPr>
          <p:cNvPr id="5" name="Text 3"/>
          <p:cNvSpPr/>
          <p:nvPr/>
        </p:nvSpPr>
        <p:spPr>
          <a:xfrm>
            <a:off x="457200" y="594360"/>
            <a:ext cx="8229600" cy="45720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Dico S11 — Gateway et infrastructure</a:t>
            </a:r>
            <a:endParaRPr lang="en-US" sz="2200" dirty="0"/>
          </a:p>
        </p:txBody>
      </p:sp>
      <p:sp>
        <p:nvSpPr>
          <p:cNvPr id="6" name="Text 4"/>
          <p:cNvSpPr/>
          <p:nvPr/>
        </p:nvSpPr>
        <p:spPr>
          <a:xfrm>
            <a:off x="457200" y="100584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Le vocabulaire du point d'entrée et de l'infra réseau</a:t>
            </a:r>
            <a:endParaRPr lang="en-US" sz="1100" dirty="0"/>
          </a:p>
        </p:txBody>
      </p:sp>
      <p:sp>
        <p:nvSpPr>
          <p:cNvPr id="7" name="Text 5"/>
          <p:cNvSpPr/>
          <p:nvPr/>
        </p:nvSpPr>
        <p:spPr>
          <a:xfrm>
            <a:off x="457200" y="1325880"/>
            <a:ext cx="8229600" cy="228600"/>
          </a:xfrm>
          <a:prstGeom prst="rect">
            <a:avLst/>
          </a:prstGeom>
          <a:noFill/>
          <a:ln/>
        </p:spPr>
        <p:txBody>
          <a:bodyPr wrap="square" rtlCol="0" anchor="ctr"/>
          <a:lstStyle/>
          <a:p>
            <a:pPr indent="0" marL="0">
              <a:buNone/>
            </a:pPr>
            <a:r>
              <a:rPr lang="en-US" sz="1000" b="1" spc="200" kern="0" dirty="0">
                <a:solidFill>
                  <a:srgbClr val="2E7D32"/>
                </a:solidFill>
                <a:latin typeface="Calibri" pitchFamily="34" charset="0"/>
                <a:ea typeface="Calibri" pitchFamily="34" charset="-122"/>
                <a:cs typeface="Calibri" pitchFamily="34" charset="-120"/>
              </a:rPr>
              <a:t>⚡ NOUVEAUX TERMES</a:t>
            </a:r>
            <a:endParaRPr lang="en-US" sz="1000" dirty="0"/>
          </a:p>
        </p:txBody>
      </p:sp>
      <p:sp>
        <p:nvSpPr>
          <p:cNvPr id="8" name="Text 6"/>
          <p:cNvSpPr/>
          <p:nvPr/>
        </p:nvSpPr>
        <p:spPr>
          <a:xfrm>
            <a:off x="45720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API Gateway</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point d'entrée unique vers tous les services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Reverse proxy</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intermédiaire HTTP qui route vers le backend</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Routing</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diriger une requête vers le bon service selon l'URL</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Rate limiting</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limiter le nombre de requêtes par client</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Throttling</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ralentir au lieu de bloquer</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Traefik</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gateway moderne, config par labels Docker</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Kong</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gateway puissant avec écosystème de plugins</a:t>
            </a:r>
            <a:endParaRPr lang="en-US" sz="1000" dirty="0"/>
          </a:p>
        </p:txBody>
      </p:sp>
      <p:sp>
        <p:nvSpPr>
          <p:cNvPr id="9" name="Text 7"/>
          <p:cNvSpPr/>
          <p:nvPr/>
        </p:nvSpPr>
        <p:spPr>
          <a:xfrm>
            <a:off x="466344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Nginx</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serveur web qui peut faire proxy</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Service Mesh</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réseau de sidecars qui gèrent la communication inter-services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Istio / Linkerd</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implémentations populaires de service mesh</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Sidecar</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conteneur proxy à côté de chaque service applicatif</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BFF</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Backend For Frontend, gateway dédiée à un type de client</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Ingress</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objet Kubernetes équivalent à une Gateway HTTP</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WAF</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Web Application Firewall, filtre attaques applicatives</a:t>
            </a:r>
            <a:endParaRPr lang="en-US" sz="1000" dirty="0"/>
          </a:p>
        </p:txBody>
      </p:sp>
      <p:sp>
        <p:nvSpPr>
          <p:cNvPr id="10" name="Shape 8"/>
          <p:cNvSpPr/>
          <p:nvPr/>
        </p:nvSpPr>
        <p:spPr>
          <a:xfrm>
            <a:off x="457200" y="3977640"/>
            <a:ext cx="8229600" cy="960120"/>
          </a:xfrm>
          <a:prstGeom prst="rect">
            <a:avLst/>
          </a:prstGeom>
          <a:solidFill>
            <a:srgbClr val="F4F4F4"/>
          </a:solidFill>
          <a:ln w="6350">
            <a:solidFill>
              <a:srgbClr val="5A6378"/>
            </a:solidFill>
            <a:prstDash val="solid"/>
          </a:ln>
        </p:spPr>
      </p:sp>
      <p:sp>
        <p:nvSpPr>
          <p:cNvPr id="11" name="Text 9"/>
          <p:cNvSpPr/>
          <p:nvPr/>
        </p:nvSpPr>
        <p:spPr>
          <a:xfrm>
            <a:off x="640080" y="4023360"/>
            <a:ext cx="7863840" cy="228600"/>
          </a:xfrm>
          <a:prstGeom prst="rect">
            <a:avLst/>
          </a:prstGeom>
          <a:noFill/>
          <a:ln/>
        </p:spPr>
        <p:txBody>
          <a:bodyPr wrap="square" rtlCol="0" anchor="ctr"/>
          <a:lstStyle/>
          <a:p>
            <a:pPr indent="0" marL="0">
              <a:buNone/>
            </a:pPr>
            <a:r>
              <a:rPr lang="en-US" sz="900" b="1" spc="200" kern="0" dirty="0">
                <a:solidFill>
                  <a:srgbClr val="5A6378"/>
                </a:solidFill>
                <a:latin typeface="Calibri" pitchFamily="34" charset="0"/>
                <a:ea typeface="Calibri" pitchFamily="34" charset="-122"/>
                <a:cs typeface="Calibri" pitchFamily="34" charset="-120"/>
              </a:rPr>
              <a:t>↺ RAPPEL — DÉJÀ VUS PRÉCÉDEMMENT</a:t>
            </a:r>
            <a:endParaRPr lang="en-US" sz="900" dirty="0"/>
          </a:p>
        </p:txBody>
      </p:sp>
      <p:sp>
        <p:nvSpPr>
          <p:cNvPr id="12" name="Text 10"/>
          <p:cNvSpPr/>
          <p:nvPr/>
        </p:nvSpPr>
        <p:spPr>
          <a:xfrm>
            <a:off x="640080" y="4251960"/>
            <a:ext cx="7863840" cy="640080"/>
          </a:xfrm>
          <a:prstGeom prst="rect">
            <a:avLst/>
          </a:prstGeom>
          <a:noFill/>
          <a:ln/>
        </p:spPr>
        <p:txBody>
          <a:bodyPr wrap="square" rtlCol="0" anchor="ctr"/>
          <a:lstStyle/>
          <a:p>
            <a:pPr indent="0" marL="0">
              <a:buNone/>
            </a:pPr>
            <a:r>
              <a:rPr lang="en-US" sz="900" b="1" dirty="0">
                <a:solidFill>
                  <a:srgbClr val="5A6378"/>
                </a:solidFill>
                <a:latin typeface="Calibri" pitchFamily="34" charset="0"/>
                <a:ea typeface="Calibri" pitchFamily="34" charset="-122"/>
                <a:cs typeface="Calibri" pitchFamily="34" charset="-120"/>
              </a:rPr>
              <a:t>Vu précédemment : </a:t>
            </a:r>
            <a:pPr indent="0" marL="0">
              <a:buNone/>
            </a:pPr>
            <a:r>
              <a:rPr lang="en-US" sz="900" b="1" dirty="0">
                <a:solidFill>
                  <a:srgbClr val="1E2761"/>
                </a:solidFill>
                <a:latin typeface="Calibri" pitchFamily="34" charset="0"/>
                <a:ea typeface="Calibri" pitchFamily="34" charset="-122"/>
                <a:cs typeface="Calibri" pitchFamily="34" charset="-120"/>
              </a:rPr>
              <a:t>JWT</a:t>
            </a:r>
            <a:pPr indent="0" marL="0">
              <a:buNone/>
            </a:pPr>
            <a:r>
              <a:rPr lang="en-US" sz="900" dirty="0">
                <a:solidFill>
                  <a:srgbClr val="5A6378"/>
                </a:solidFill>
                <a:latin typeface="Calibri" pitchFamily="34" charset="0"/>
                <a:ea typeface="Calibri" pitchFamily="34" charset="-122"/>
                <a:cs typeface="Calibri" pitchFamily="34" charset="-120"/>
              </a:rPr>
              <a:t> (S9) · </a:t>
            </a:r>
            <a:pPr indent="0" marL="0">
              <a:buNone/>
            </a:pPr>
            <a:r>
              <a:rPr lang="en-US" sz="900" b="1" dirty="0">
                <a:solidFill>
                  <a:srgbClr val="1E2761"/>
                </a:solidFill>
                <a:latin typeface="Calibri" pitchFamily="34" charset="0"/>
                <a:ea typeface="Calibri" pitchFamily="34" charset="-122"/>
                <a:cs typeface="Calibri" pitchFamily="34" charset="-120"/>
              </a:rPr>
              <a:t>Docker</a:t>
            </a:r>
            <a:pPr indent="0" marL="0">
              <a:buNone/>
            </a:pPr>
            <a:r>
              <a:rPr lang="en-US" sz="900" dirty="0">
                <a:solidFill>
                  <a:srgbClr val="5A6378"/>
                </a:solidFill>
                <a:latin typeface="Calibri" pitchFamily="34" charset="0"/>
                <a:ea typeface="Calibri" pitchFamily="34" charset="-122"/>
                <a:cs typeface="Calibri" pitchFamily="34" charset="-120"/>
              </a:rPr>
              <a:t> (S8) · </a:t>
            </a:r>
            <a:pPr indent="0" marL="0">
              <a:buNone/>
            </a:pPr>
            <a:r>
              <a:rPr lang="en-US" sz="900" b="1" dirty="0">
                <a:solidFill>
                  <a:srgbClr val="1E2761"/>
                </a:solidFill>
                <a:latin typeface="Calibri" pitchFamily="34" charset="0"/>
                <a:ea typeface="Calibri" pitchFamily="34" charset="-122"/>
                <a:cs typeface="Calibri" pitchFamily="34" charset="-120"/>
              </a:rPr>
              <a:t>Communication inter-services</a:t>
            </a:r>
            <a:pPr indent="0" marL="0">
              <a:buNone/>
            </a:pPr>
            <a:r>
              <a:rPr lang="en-US" sz="900" dirty="0">
                <a:solidFill>
                  <a:srgbClr val="5A6378"/>
                </a:solidFill>
                <a:latin typeface="Calibri" pitchFamily="34" charset="0"/>
                <a:ea typeface="Calibri" pitchFamily="34" charset="-122"/>
                <a:cs typeface="Calibri" pitchFamily="34" charset="-120"/>
              </a:rPr>
              <a:t> (S6) · </a:t>
            </a:r>
            <a:pPr indent="0" marL="0">
              <a:buNone/>
            </a:pPr>
            <a:r>
              <a:rPr lang="en-US" sz="900" b="1" dirty="0">
                <a:solidFill>
                  <a:srgbClr val="1E2761"/>
                </a:solidFill>
                <a:latin typeface="Calibri" pitchFamily="34" charset="0"/>
                <a:ea typeface="Calibri" pitchFamily="34" charset="-122"/>
                <a:cs typeface="Calibri" pitchFamily="34" charset="-120"/>
              </a:rPr>
              <a:t>Sagas</a:t>
            </a:r>
            <a:pPr indent="0" marL="0">
              <a:buNone/>
            </a:pPr>
            <a:r>
              <a:rPr lang="en-US" sz="900" dirty="0">
                <a:solidFill>
                  <a:srgbClr val="5A6378"/>
                </a:solidFill>
                <a:latin typeface="Calibri" pitchFamily="34" charset="0"/>
                <a:ea typeface="Calibri" pitchFamily="34" charset="-122"/>
                <a:cs typeface="Calibri" pitchFamily="34" charset="-120"/>
              </a:rPr>
              <a:t> (S10)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1/5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38</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Vous avez 8 services exposés directement aux clients.</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Chaque service implémente : auth JWT, CORS, rate limiting, logging, HTTPS, monitoring.</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Vous voulez ajouter une nouvelle règle de sécurité. Vous devez la déployer sur 8 services.</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Quel est le problème de cette architecture ? Quelle solution ?</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39</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Pourquoi une API Gateway</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Plutôt que de dupliquer les préoccupations transverses dans chaque service, on les centralise dans un point d'entrée unique.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DRY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auth, CORS, rate limiting, logging codés UNE fois dans la gateway.</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Point d'entrée unique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les clients ne connaissent qu'une URL. Les services internes peuvent bouger.</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Sécurité périmétrique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tout passe par la gateway, qui valide. Les services ne sont pas exposés directement.</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Évolution facilitée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ajouter un nouveau service ne change rien pour les clients existants.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Métriques centralisées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toutes les requêtes passent par un point = observabilité naturelle.</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Sans gateway = duplication massive. Avec gateway = préoccupations transverses centralisées.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2/5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40</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Un architecte vous demande : « mettez TOUT dans la gateway : auth, validation métier, transformation des payloads, agrégation de réponses, logique de retry, cache... »</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Vous sentez le piège.</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Qu'est-ce qui DOIT être dans la gateway ? Qu'est-ce qui ne doit PAS y être ?</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41</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Les responsabilités d'une gateway</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La gateway gère les préoccupations TRANSVERSES, pas la logique métier. Sinon elle devient un nouveau monolithe.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Doit faire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routing, auth (vérification JWT), rate limiting, CORS, TLS, logs d'accès, métriques.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Peut faire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cache simple, transformations basiques (headers), versioning d'URL.</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NE doit PAS faire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validation métier, orchestration de Sagas, calcul, transformation lourde de payload.</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Anti-pattern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 gateway-monolithe » qui contient toute la logique. Catastrophe pour l'évolution.</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Gateway = TRANSVERSE uniquement. Métier = dans les services. Sinon on a juste déplacé le monolithe.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3/5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42</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Pour FlexShop, vous devez choisir une gateway.</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Option A : Traefik. Config par labels Docker, auto-discovery, simple.</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Option B : Kong. Plugins riches, GUI admin, plus puissant mais plus lourd.</a:t>
            </a: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Option C : Nginx. Mature, bien connu, mais config statique.</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Lequel choisir pour FlexShop ? Pourquoi ?</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VOTE À MAIN LEVÉE</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43</a:t>
            </a:r>
            <a:endParaRPr lang="en-US" sz="1000" dirty="0"/>
          </a:p>
        </p:txBody>
      </p:sp>
      <p:sp>
        <p:nvSpPr>
          <p:cNvPr id="5" name="Text 3"/>
          <p:cNvSpPr/>
          <p:nvPr/>
        </p:nvSpPr>
        <p:spPr>
          <a:xfrm>
            <a:off x="457200" y="1097280"/>
            <a:ext cx="8229600" cy="731520"/>
          </a:xfrm>
          <a:prstGeom prst="rect">
            <a:avLst/>
          </a:prstGeom>
          <a:noFill/>
          <a:ln/>
        </p:spPr>
        <p:txBody>
          <a:bodyPr wrap="square" rtlCol="0" anchor="ctr"/>
          <a:lstStyle/>
          <a:p>
            <a:pPr algn="ctr" indent="0" marL="0">
              <a:buNone/>
            </a:pPr>
            <a:r>
              <a:rPr lang="en-US" sz="2200" b="1" dirty="0">
                <a:solidFill>
                  <a:srgbClr val="1E2761"/>
                </a:solidFill>
                <a:latin typeface="Calibri" pitchFamily="34" charset="0"/>
                <a:ea typeface="Calibri" pitchFamily="34" charset="-122"/>
                <a:cs typeface="Calibri" pitchFamily="34" charset="-120"/>
              </a:rPr>
              <a:t>Pour FlexShop (projet pédagogique, micro-services Docker), je choisis :</a:t>
            </a:r>
            <a:endParaRPr lang="en-US" sz="2200" dirty="0"/>
          </a:p>
        </p:txBody>
      </p:sp>
      <p:sp>
        <p:nvSpPr>
          <p:cNvPr id="6" name="Shape 4"/>
          <p:cNvSpPr/>
          <p:nvPr/>
        </p:nvSpPr>
        <p:spPr>
          <a:xfrm>
            <a:off x="594360" y="2286000"/>
            <a:ext cx="2468880" cy="2011680"/>
          </a:xfrm>
          <a:prstGeom prst="rect">
            <a:avLst/>
          </a:prstGeom>
          <a:solidFill>
            <a:srgbClr val="FFFFFF"/>
          </a:solidFill>
          <a:ln w="25400">
            <a:solidFill>
              <a:srgbClr val="1E2761"/>
            </a:solidFill>
            <a:prstDash val="solid"/>
          </a:ln>
        </p:spPr>
      </p:sp>
      <p:sp>
        <p:nvSpPr>
          <p:cNvPr id="7" name="Shape 5"/>
          <p:cNvSpPr/>
          <p:nvPr/>
        </p:nvSpPr>
        <p:spPr>
          <a:xfrm>
            <a:off x="1508760" y="2468880"/>
            <a:ext cx="640080" cy="640080"/>
          </a:xfrm>
          <a:prstGeom prst="ellipse">
            <a:avLst/>
          </a:prstGeom>
          <a:solidFill>
            <a:srgbClr val="1E2761"/>
          </a:solidFill>
          <a:ln w="12700">
            <a:solidFill>
              <a:srgbClr val="1E2761"/>
            </a:solidFill>
            <a:prstDash val="solid"/>
          </a:ln>
        </p:spPr>
      </p:sp>
      <p:sp>
        <p:nvSpPr>
          <p:cNvPr id="8" name="Text 6"/>
          <p:cNvSpPr/>
          <p:nvPr/>
        </p:nvSpPr>
        <p:spPr>
          <a:xfrm>
            <a:off x="1508760" y="24688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9" name="Text 7"/>
          <p:cNvSpPr/>
          <p:nvPr/>
        </p:nvSpPr>
        <p:spPr>
          <a:xfrm>
            <a:off x="731520" y="3246120"/>
            <a:ext cx="2194560" cy="1005840"/>
          </a:xfrm>
          <a:prstGeom prst="rect">
            <a:avLst/>
          </a:prstGeom>
          <a:noFill/>
          <a:ln/>
        </p:spPr>
        <p:txBody>
          <a:bodyPr wrap="square"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Traefik (simple, Docker-native)</a:t>
            </a:r>
            <a:endParaRPr lang="en-US" sz="1400" dirty="0"/>
          </a:p>
        </p:txBody>
      </p:sp>
      <p:sp>
        <p:nvSpPr>
          <p:cNvPr id="10" name="Shape 8"/>
          <p:cNvSpPr/>
          <p:nvPr/>
        </p:nvSpPr>
        <p:spPr>
          <a:xfrm>
            <a:off x="3337560" y="2286000"/>
            <a:ext cx="2468880" cy="2011680"/>
          </a:xfrm>
          <a:prstGeom prst="rect">
            <a:avLst/>
          </a:prstGeom>
          <a:solidFill>
            <a:srgbClr val="FFFFFF"/>
          </a:solidFill>
          <a:ln w="25400">
            <a:solidFill>
              <a:srgbClr val="1E2761"/>
            </a:solidFill>
            <a:prstDash val="solid"/>
          </a:ln>
        </p:spPr>
      </p:sp>
      <p:sp>
        <p:nvSpPr>
          <p:cNvPr id="11" name="Shape 9"/>
          <p:cNvSpPr/>
          <p:nvPr/>
        </p:nvSpPr>
        <p:spPr>
          <a:xfrm>
            <a:off x="4251960" y="2468880"/>
            <a:ext cx="640080" cy="640080"/>
          </a:xfrm>
          <a:prstGeom prst="ellipse">
            <a:avLst/>
          </a:prstGeom>
          <a:solidFill>
            <a:srgbClr val="1E2761"/>
          </a:solidFill>
          <a:ln w="12700">
            <a:solidFill>
              <a:srgbClr val="1E2761"/>
            </a:solidFill>
            <a:prstDash val="solid"/>
          </a:ln>
        </p:spPr>
      </p:sp>
      <p:sp>
        <p:nvSpPr>
          <p:cNvPr id="12" name="Text 10"/>
          <p:cNvSpPr/>
          <p:nvPr/>
        </p:nvSpPr>
        <p:spPr>
          <a:xfrm>
            <a:off x="4251960" y="24688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3" name="Text 11"/>
          <p:cNvSpPr/>
          <p:nvPr/>
        </p:nvSpPr>
        <p:spPr>
          <a:xfrm>
            <a:off x="3474720" y="3246120"/>
            <a:ext cx="2194560" cy="1005840"/>
          </a:xfrm>
          <a:prstGeom prst="rect">
            <a:avLst/>
          </a:prstGeom>
          <a:noFill/>
          <a:ln/>
        </p:spPr>
        <p:txBody>
          <a:bodyPr wrap="square"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Kong (riche, plugins)</a:t>
            </a:r>
            <a:endParaRPr lang="en-US" sz="1400" dirty="0"/>
          </a:p>
        </p:txBody>
      </p:sp>
      <p:sp>
        <p:nvSpPr>
          <p:cNvPr id="14" name="Shape 12"/>
          <p:cNvSpPr/>
          <p:nvPr/>
        </p:nvSpPr>
        <p:spPr>
          <a:xfrm>
            <a:off x="6080760" y="2286000"/>
            <a:ext cx="2468880" cy="2011680"/>
          </a:xfrm>
          <a:prstGeom prst="rect">
            <a:avLst/>
          </a:prstGeom>
          <a:solidFill>
            <a:srgbClr val="FFFFFF"/>
          </a:solidFill>
          <a:ln w="25400">
            <a:solidFill>
              <a:srgbClr val="1E2761"/>
            </a:solidFill>
            <a:prstDash val="solid"/>
          </a:ln>
        </p:spPr>
      </p:sp>
      <p:sp>
        <p:nvSpPr>
          <p:cNvPr id="15" name="Shape 13"/>
          <p:cNvSpPr/>
          <p:nvPr/>
        </p:nvSpPr>
        <p:spPr>
          <a:xfrm>
            <a:off x="6995160" y="2468880"/>
            <a:ext cx="640080" cy="640080"/>
          </a:xfrm>
          <a:prstGeom prst="ellipse">
            <a:avLst/>
          </a:prstGeom>
          <a:solidFill>
            <a:srgbClr val="1E2761"/>
          </a:solidFill>
          <a:ln w="12700">
            <a:solidFill>
              <a:srgbClr val="1E2761"/>
            </a:solidFill>
            <a:prstDash val="solid"/>
          </a:ln>
        </p:spPr>
      </p:sp>
      <p:sp>
        <p:nvSpPr>
          <p:cNvPr id="16" name="Text 14"/>
          <p:cNvSpPr/>
          <p:nvPr/>
        </p:nvSpPr>
        <p:spPr>
          <a:xfrm>
            <a:off x="6995160" y="24688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7" name="Text 15"/>
          <p:cNvSpPr/>
          <p:nvPr/>
        </p:nvSpPr>
        <p:spPr>
          <a:xfrm>
            <a:off x="6217920" y="3246120"/>
            <a:ext cx="2194560" cy="1005840"/>
          </a:xfrm>
          <a:prstGeom prst="rect">
            <a:avLst/>
          </a:prstGeom>
          <a:noFill/>
          <a:ln/>
        </p:spPr>
        <p:txBody>
          <a:bodyPr wrap="square"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Nginx (mature, config classique)</a:t>
            </a:r>
            <a:endParaRPr lang="en-US" sz="1400" dirty="0"/>
          </a:p>
        </p:txBody>
      </p:sp>
      <p:sp>
        <p:nvSpPr>
          <p:cNvPr id="18" name="Text 16"/>
          <p:cNvSpPr/>
          <p:nvPr/>
        </p:nvSpPr>
        <p:spPr>
          <a:xfrm>
            <a:off x="457200" y="4572000"/>
            <a:ext cx="8229600" cy="274320"/>
          </a:xfrm>
          <a:prstGeom prst="rect">
            <a:avLst/>
          </a:prstGeom>
          <a:noFill/>
          <a:ln/>
        </p:spPr>
        <p:txBody>
          <a:bodyPr wrap="square" rtlCol="0" anchor="ctr"/>
          <a:lstStyle/>
          <a:p>
            <a:pPr algn="ctr" indent="0" marL="0">
              <a:buNone/>
            </a:pPr>
            <a:r>
              <a:rPr lang="en-US" sz="1100" i="1" dirty="0">
                <a:solidFill>
                  <a:srgbClr val="5A6378"/>
                </a:solidFill>
                <a:latin typeface="Calibri" pitchFamily="34" charset="0"/>
                <a:ea typeface="Calibri" pitchFamily="34" charset="-122"/>
                <a:cs typeface="Calibri" pitchFamily="34" charset="-120"/>
              </a:rPr>
              <a:t>Pas de bonne réponse — défendez votre choix</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44</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Traefik, Kong, Nginx — comparatif</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Trois solutions matures, des positionnements différents. Le bon choix dépend du contexte.</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Traefik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moderne, Docker/K8s natif, auto-discovery par labels. Simple à configurer. Notre choix pour FlexShop.</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Kong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riche écosystème de plugins (auth, rate, transformation). GUI admin. Plus lourd à exploiter.</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Nginx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ultra-mature, config statique en .conf. Excellent perf, mais moins dynamique.</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Cloud-native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AWS API Gateway, Azure APIM, Google Cloud Endpoints. Managés, mais vendor lock-in.</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Traefik pour projets Docker simples · Kong pour besoins plugins riches · Nginx pour perf brute.</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4/5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45</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Votre architecte parle de mettre en place Istio comme "service mesh".</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Vous avez déjà une gateway Traefik. Est-ce redondant ? Concurrent ? Complémentaire ?</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Quelle est la différence entre une Gateway et un Service Mesh ?</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46</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Gateway vs Service Mesh</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La gateway gère le trafic EXTERNE → services. Le service mesh gère le trafic INTERNE entre services. Complémentaires, pas concurrents.</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Gateway (north-south)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trafic client → services internes. Auth périmétrique, routing, rate limit.</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Service Mesh (east-west)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trafic service-à-service. mTLS auto, retries, circuit breakers, observabilité.</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Sidecar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le service mesh injecte un proxy à côté de CHAQUE service, qui intercepte le trafic.</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Istio / Linkerd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les deux poids lourds du marché. Istio plus complet, Linkerd plus léger.</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Quand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Gateway dès le début. Service mesh quand on dépasse 10-15 services (sinon overkill).</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Gateway = porte d'entrée. Service Mesh = réseau interne. Pas la même chose, pas redondants.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MISE EN SITUATION • TRIO 5/5</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47</a:t>
            </a:r>
            <a:endParaRPr lang="en-US" sz="1000" dirty="0"/>
          </a:p>
        </p:txBody>
      </p:sp>
      <p:sp>
        <p:nvSpPr>
          <p:cNvPr id="5" name="Text 3"/>
          <p:cNvSpPr/>
          <p:nvPr/>
        </p:nvSpPr>
        <p:spPr>
          <a:xfrm>
            <a:off x="640080" y="1280160"/>
            <a:ext cx="7863840" cy="2286000"/>
          </a:xfrm>
          <a:prstGeom prst="rect">
            <a:avLst/>
          </a:prstGeom>
          <a:noFill/>
          <a:ln/>
        </p:spPr>
        <p:txBody>
          <a:bodyPr wrap="square" rtlCol="0" anchor="ctr"/>
          <a:lstStyle/>
          <a:p>
            <a:pPr algn="ctr" indent="0" marL="0">
              <a:buNone/>
            </a:pPr>
            <a:r>
              <a:rPr lang="en-US" sz="2000" dirty="0">
                <a:solidFill>
                  <a:srgbClr val="1E2761"/>
                </a:solidFill>
                <a:latin typeface="Calibri" pitchFamily="34" charset="0"/>
                <a:ea typeface="Calibri" pitchFamily="34" charset="-122"/>
                <a:cs typeface="Calibri" pitchFamily="34" charset="-120"/>
              </a:rPr>
              <a:t>Votre app mobile FlexShop a besoin de : la liste des produits compactée (juste id, nom, prix, image_url), avec déjà la moyenne des avis incluse.</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Votre app web a besoin de : la liste complète des produits avec tous les avis détaillés.</a:t>
            </a:r>
            <a:endParaRPr lang="en-US" sz="2000" dirty="0"/>
          </a:p>
          <a:p>
            <a:pPr algn="ctr" indent="0" marL="0">
              <a:buNone/>
            </a:pPr>
            <a:endParaRPr lang="en-US" sz="2000" dirty="0"/>
          </a:p>
          <a:p>
            <a:pPr algn="ctr" indent="0" marL="0">
              <a:buNone/>
            </a:pPr>
            <a:r>
              <a:rPr lang="en-US" sz="2000" dirty="0">
                <a:solidFill>
                  <a:srgbClr val="1E2761"/>
                </a:solidFill>
                <a:latin typeface="Calibri" pitchFamily="34" charset="0"/>
                <a:ea typeface="Calibri" pitchFamily="34" charset="-122"/>
                <a:cs typeface="Calibri" pitchFamily="34" charset="-120"/>
              </a:rPr>
              <a:t>Vous codez quoi ?</a:t>
            </a:r>
            <a:endParaRPr lang="en-US" sz="2000" dirty="0"/>
          </a:p>
        </p:txBody>
      </p:sp>
      <p:sp>
        <p:nvSpPr>
          <p:cNvPr id="6" name="Shape 4"/>
          <p:cNvSpPr/>
          <p:nvPr/>
        </p:nvSpPr>
        <p:spPr>
          <a:xfrm>
            <a:off x="914400" y="4023360"/>
            <a:ext cx="7315200" cy="640080"/>
          </a:xfrm>
          <a:prstGeom prst="rect">
            <a:avLst/>
          </a:prstGeom>
          <a:solidFill>
            <a:srgbClr val="CADCFC"/>
          </a:solidFill>
          <a:ln w="12700">
            <a:solidFill>
              <a:srgbClr val="1E2761"/>
            </a:solidFill>
            <a:prstDash val="solid"/>
          </a:ln>
        </p:spPr>
      </p:sp>
      <p:sp>
        <p:nvSpPr>
          <p:cNvPr id="7" name="Text 5"/>
          <p:cNvSpPr/>
          <p:nvPr/>
        </p:nvSpPr>
        <p:spPr>
          <a:xfrm>
            <a:off x="1097280" y="4023360"/>
            <a:ext cx="6949440" cy="640080"/>
          </a:xfrm>
          <a:prstGeom prst="rect">
            <a:avLst/>
          </a:prstGeom>
          <a:noFill/>
          <a:ln/>
        </p:spPr>
        <p:txBody>
          <a:bodyPr wrap="square" rtlCol="0" anchor="ctr"/>
          <a:lstStyle/>
          <a:p>
            <a:pPr algn="ctr" indent="0" marL="0">
              <a:buNone/>
            </a:pPr>
            <a:r>
              <a:rPr lang="en-US" sz="1600" b="1" i="1" dirty="0">
                <a:solidFill>
                  <a:srgbClr val="1E2761"/>
                </a:solidFill>
                <a:latin typeface="Calibri" pitchFamily="34" charset="0"/>
                <a:ea typeface="Calibri" pitchFamily="34" charset="-122"/>
                <a:cs typeface="Calibri" pitchFamily="34" charset="-120"/>
              </a:rPr>
              <a:t>Une seule API pour les deux ? Deux API distinctes ? Autre solution ?</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E7D32"/>
          </a:solidFill>
          <a:ln w="12700">
            <a:solidFill>
              <a:srgbClr val="2E7D32"/>
            </a:solidFill>
            <a:prstDash val="solid"/>
          </a:ln>
        </p:spPr>
      </p:sp>
      <p:sp>
        <p:nvSpPr>
          <p:cNvPr id="3" name="Text 1"/>
          <p:cNvSpPr/>
          <p:nvPr/>
        </p:nvSpPr>
        <p:spPr>
          <a:xfrm>
            <a:off x="457200" y="320040"/>
            <a:ext cx="5486400" cy="32004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 ALORS, COMMENT ÇA S'APPELLE ?</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48</a:t>
            </a:r>
            <a:endParaRPr lang="en-US" sz="1000" dirty="0"/>
          </a:p>
        </p:txBody>
      </p:sp>
      <p:sp>
        <p:nvSpPr>
          <p:cNvPr id="5" name="Text 3"/>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 pattern BFF (Backend For Frontend)</a:t>
            </a:r>
            <a:endParaRPr lang="en-US" sz="2800" dirty="0"/>
          </a:p>
        </p:txBody>
      </p:sp>
      <p:sp>
        <p:nvSpPr>
          <p:cNvPr id="6" name="Text 4"/>
          <p:cNvSpPr/>
          <p:nvPr/>
        </p:nvSpPr>
        <p:spPr>
          <a:xfrm>
            <a:off x="548640" y="1417320"/>
            <a:ext cx="8046720" cy="8229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Plutôt qu'une gateway générique pour tous les clients, on crée UNE gateway dédiée par TYPE de client. Chaque BFF est optimisé pour son client.</a:t>
            </a:r>
            <a:endParaRPr lang="en-US" sz="1500" dirty="0"/>
          </a:p>
        </p:txBody>
      </p:sp>
      <p:sp>
        <p:nvSpPr>
          <p:cNvPr id="7" name="Text 5"/>
          <p:cNvSpPr/>
          <p:nvPr/>
        </p:nvSpPr>
        <p:spPr>
          <a:xfrm>
            <a:off x="548640" y="2331720"/>
            <a:ext cx="8046720" cy="2194560"/>
          </a:xfrm>
          <a:prstGeom prst="rect">
            <a:avLst/>
          </a:prstGeom>
          <a:noFill/>
          <a:ln/>
        </p:spPr>
        <p:txBody>
          <a:bodyPr wrap="square" rtlCol="0" anchor="ctr"/>
          <a:lstStyle/>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Problème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app mobile et web n'ont pas les mêmes besoins (payload, latence, agrégations).</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BFF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une gateway dédiée par client (mobile-bff, web-bff, partner-bff).</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Responsabilités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agrégation de plusieurs services, transformation, optimisation payload, cache spécifique.</a:t>
            </a:r>
            <a:endParaRPr lang="en-US" sz="1400" dirty="0"/>
          </a:p>
          <a:p>
            <a:pPr marL="342900" indent="-342900">
              <a:spcAft>
                <a:spcPts val="500"/>
              </a:spcAft>
              <a:buSzPct val="100000"/>
              <a:buChar char="•"/>
            </a:pPr>
            <a:r>
              <a:rPr lang="en-US" sz="1400" b="1" dirty="0">
                <a:solidFill>
                  <a:srgbClr val="1E2761"/>
                </a:solidFill>
                <a:latin typeface="Calibri" pitchFamily="34" charset="0"/>
                <a:ea typeface="Calibri" pitchFamily="34" charset="-122"/>
                <a:cs typeface="Calibri" pitchFamily="34" charset="-120"/>
              </a:rPr>
              <a:t>Risque : </a:t>
            </a:r>
            <a:pPr indent="0" marL="0">
              <a:spcAft>
                <a:spcPts val="500"/>
              </a:spcAft>
              <a:buNone/>
            </a:pPr>
            <a:r>
              <a:rPr lang="en-US" sz="1400" dirty="0">
                <a:solidFill>
                  <a:srgbClr val="1E2761"/>
                </a:solidFill>
                <a:latin typeface="Calibri" pitchFamily="34" charset="0"/>
                <a:ea typeface="Calibri" pitchFamily="34" charset="-122"/>
                <a:cs typeface="Calibri" pitchFamily="34" charset="-120"/>
              </a:rPr>
              <a:t>duplication de logique entre BFFs. À encadrer par une équipe Platform.</a:t>
            </a:r>
            <a:endParaRPr lang="en-US" sz="1400" dirty="0"/>
          </a:p>
        </p:txBody>
      </p:sp>
      <p:sp>
        <p:nvSpPr>
          <p:cNvPr id="8" name="Shape 6"/>
          <p:cNvSpPr/>
          <p:nvPr/>
        </p:nvSpPr>
        <p:spPr>
          <a:xfrm>
            <a:off x="457200" y="4617720"/>
            <a:ext cx="8229600" cy="411480"/>
          </a:xfrm>
          <a:prstGeom prst="rect">
            <a:avLst/>
          </a:prstGeom>
          <a:solidFill>
            <a:srgbClr val="CADCFC"/>
          </a:solidFill>
          <a:ln w="6350">
            <a:solidFill>
              <a:srgbClr val="1E2761"/>
            </a:solidFill>
            <a:prstDash val="solid"/>
          </a:ln>
        </p:spPr>
      </p:sp>
      <p:sp>
        <p:nvSpPr>
          <p:cNvPr id="9" name="Text 7"/>
          <p:cNvSpPr/>
          <p:nvPr/>
        </p:nvSpPr>
        <p:spPr>
          <a:xfrm>
            <a:off x="640080" y="4617720"/>
            <a:ext cx="7863840" cy="411480"/>
          </a:xfrm>
          <a:prstGeom prst="rect">
            <a:avLst/>
          </a:prstGeom>
          <a:noFill/>
          <a:ln/>
        </p:spPr>
        <p:txBody>
          <a:bodyPr wrap="square"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BFF = gateway sur-mesure par type de client. Une approche populaire chez Netflix, Spotify, SoundCloud.</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CE QU'ON A VU EN S11</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49</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Les 5 idées clés</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Gateway = point d'entrée unique pour préoccupations transverses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Doit faire : routing, auth, rate limit, CORS, métriques. PAS de métier.</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Traefik = bon choix pour projets Docker simples (notre cas)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Gateway (north-south) ≠ Service Mesh (east-west) — complémentaires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BFF = gateway dédiée par type de client (mobile, web, partner)</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CADCFC"/>
        </a:solidFill>
      </p:bgPr>
    </p:bg>
    <p:spTree>
      <p:nvGrpSpPr>
        <p:cNvPr id="1" name=""/>
        <p:cNvGrpSpPr/>
        <p:nvPr/>
      </p:nvGrpSpPr>
      <p:grpSpPr>
        <a:xfrm>
          <a:off x="0" y="0"/>
          <a:ext cx="0" cy="0"/>
          <a:chOff x="0" y="0"/>
          <a:chExt cx="0" cy="0"/>
        </a:xfrm>
      </p:grpSpPr>
      <p:sp>
        <p:nvSpPr>
          <p:cNvPr id="2" name="Text 0"/>
          <p:cNvSpPr/>
          <p:nvPr/>
        </p:nvSpPr>
        <p:spPr>
          <a:xfrm>
            <a:off x="457200" y="731520"/>
            <a:ext cx="8229600" cy="365760"/>
          </a:xfrm>
          <a:prstGeom prst="rect">
            <a:avLst/>
          </a:prstGeom>
          <a:noFill/>
          <a:ln/>
        </p:spPr>
        <p:txBody>
          <a:bodyPr wrap="square" rtlCol="0" anchor="ctr"/>
          <a:lstStyle/>
          <a:p>
            <a:pPr algn="ctr" indent="0" marL="0">
              <a:buNone/>
            </a:pPr>
            <a:r>
              <a:rPr lang="en-US" sz="1200" b="1" spc="400" kern="0" dirty="0">
                <a:solidFill>
                  <a:srgbClr val="5A6378"/>
                </a:solidFill>
                <a:latin typeface="Calibri" pitchFamily="34" charset="0"/>
                <a:ea typeface="Calibri" pitchFamily="34" charset="-122"/>
                <a:cs typeface="Calibri" pitchFamily="34" charset="-120"/>
              </a:rPr>
              <a:t>ON VIENT DE FINIR</a:t>
            </a:r>
            <a:endParaRPr lang="en-US" sz="1200" dirty="0"/>
          </a:p>
        </p:txBody>
      </p:sp>
      <p:sp>
        <p:nvSpPr>
          <p:cNvPr id="3" name="Text 1"/>
          <p:cNvSpPr/>
          <p:nvPr/>
        </p:nvSpPr>
        <p:spPr>
          <a:xfrm>
            <a:off x="457200" y="1143000"/>
            <a:ext cx="8229600" cy="548640"/>
          </a:xfrm>
          <a:prstGeom prst="rect">
            <a:avLst/>
          </a:prstGeom>
          <a:noFill/>
          <a:ln/>
        </p:spPr>
        <p:txBody>
          <a:bodyPr wrap="square" rtlCol="0" anchor="ctr"/>
          <a:lstStyle/>
          <a:p>
            <a:pPr algn="ctr" indent="0" marL="0">
              <a:buNone/>
            </a:pPr>
            <a:r>
              <a:rPr lang="en-US" sz="2200" i="1" dirty="0">
                <a:solidFill>
                  <a:srgbClr val="1E2761"/>
                </a:solidFill>
                <a:latin typeface="Calibri" pitchFamily="34" charset="0"/>
                <a:ea typeface="Calibri" pitchFamily="34" charset="-122"/>
                <a:cs typeface="Calibri" pitchFamily="34" charset="-120"/>
              </a:rPr>
              <a:t>S11 — API Gateway</a:t>
            </a:r>
            <a:endParaRPr lang="en-US" sz="2200" dirty="0"/>
          </a:p>
        </p:txBody>
      </p:sp>
      <p:sp>
        <p:nvSpPr>
          <p:cNvPr id="4" name="Shape 2"/>
          <p:cNvSpPr/>
          <p:nvPr/>
        </p:nvSpPr>
        <p:spPr>
          <a:xfrm>
            <a:off x="4434840" y="2011680"/>
            <a:ext cx="274320" cy="1097280"/>
          </a:xfrm>
          <a:prstGeom prst="rect">
            <a:avLst/>
          </a:prstGeom>
          <a:solidFill>
            <a:srgbClr val="F96167"/>
          </a:solidFill>
          <a:ln w="12700">
            <a:solidFill>
              <a:srgbClr val="F96167"/>
            </a:solidFill>
            <a:prstDash val="solid"/>
          </a:ln>
        </p:spPr>
      </p:sp>
      <p:sp>
        <p:nvSpPr>
          <p:cNvPr id="5" name="Shape 3"/>
          <p:cNvSpPr/>
          <p:nvPr/>
        </p:nvSpPr>
        <p:spPr>
          <a:xfrm>
            <a:off x="4114800" y="2926080"/>
            <a:ext cx="914400" cy="548640"/>
          </a:xfrm>
          <a:prstGeom prst="downArrow">
            <a:avLst/>
          </a:prstGeom>
          <a:solidFill>
            <a:srgbClr val="F96167"/>
          </a:solidFill>
          <a:ln w="12700">
            <a:solidFill>
              <a:srgbClr val="F96167"/>
            </a:solidFill>
            <a:prstDash val="solid"/>
          </a:ln>
        </p:spPr>
      </p:sp>
      <p:sp>
        <p:nvSpPr>
          <p:cNvPr id="6" name="Text 4"/>
          <p:cNvSpPr/>
          <p:nvPr/>
        </p:nvSpPr>
        <p:spPr>
          <a:xfrm>
            <a:off x="457200" y="3657600"/>
            <a:ext cx="8229600" cy="365760"/>
          </a:xfrm>
          <a:prstGeom prst="rect">
            <a:avLst/>
          </a:prstGeom>
          <a:noFill/>
          <a:ln/>
        </p:spPr>
        <p:txBody>
          <a:bodyPr wrap="square" rtlCol="0" anchor="ctr"/>
          <a:lstStyle/>
          <a:p>
            <a:pPr algn="ctr" indent="0" marL="0">
              <a:buNone/>
            </a:pPr>
            <a:r>
              <a:rPr lang="en-US" sz="1200" b="1" spc="400" kern="0" dirty="0">
                <a:solidFill>
                  <a:srgbClr val="5A6378"/>
                </a:solidFill>
                <a:latin typeface="Calibri" pitchFamily="34" charset="0"/>
                <a:ea typeface="Calibri" pitchFamily="34" charset="-122"/>
                <a:cs typeface="Calibri" pitchFamily="34" charset="-120"/>
              </a:rPr>
              <a:t>ON PASSE À</a:t>
            </a:r>
            <a:endParaRPr lang="en-US" sz="1200" dirty="0"/>
          </a:p>
        </p:txBody>
      </p:sp>
      <p:sp>
        <p:nvSpPr>
          <p:cNvPr id="7" name="Text 5"/>
          <p:cNvSpPr/>
          <p:nvPr/>
        </p:nvSpPr>
        <p:spPr>
          <a:xfrm>
            <a:off x="457200" y="4069080"/>
            <a:ext cx="8229600" cy="548640"/>
          </a:xfrm>
          <a:prstGeom prst="rect">
            <a:avLst/>
          </a:prstGeom>
          <a:noFill/>
          <a:ln/>
        </p:spPr>
        <p:txBody>
          <a:bodyPr wrap="square" rtlCol="0" anchor="ctr"/>
          <a:lstStyle/>
          <a:p>
            <a:pPr algn="ctr" indent="0" marL="0">
              <a:buNone/>
            </a:pPr>
            <a:r>
              <a:rPr lang="en-US" sz="3000" b="1" dirty="0">
                <a:solidFill>
                  <a:srgbClr val="1E2761"/>
                </a:solidFill>
                <a:latin typeface="Calibri" pitchFamily="34" charset="0"/>
                <a:ea typeface="Calibri" pitchFamily="34" charset="-122"/>
                <a:cs typeface="Calibri" pitchFamily="34" charset="-120"/>
              </a:rPr>
              <a:t>S12 — TP COLLECTIF : Auth + Gateway + intégration</a:t>
            </a:r>
            <a:endParaRPr lang="en-US" sz="3000" dirty="0"/>
          </a:p>
        </p:txBody>
      </p:sp>
      <p:sp>
        <p:nvSpPr>
          <p:cNvPr id="8" name="Text 6"/>
          <p:cNvSpPr/>
          <p:nvPr/>
        </p:nvSpPr>
        <p:spPr>
          <a:xfrm>
            <a:off x="457200" y="4709160"/>
            <a:ext cx="8229600" cy="365760"/>
          </a:xfrm>
          <a:prstGeom prst="rect">
            <a:avLst/>
          </a:prstGeom>
          <a:noFill/>
          <a:ln/>
        </p:spPr>
        <p:txBody>
          <a:bodyPr wrap="square" rtlCol="0" anchor="ctr"/>
          <a:lstStyle/>
          <a:p>
            <a:pPr algn="ctr" indent="0" marL="0">
              <a:buNone/>
            </a:pPr>
            <a:r>
              <a:rPr lang="en-US" sz="1300" i="1" dirty="0">
                <a:solidFill>
                  <a:srgbClr val="5A6378"/>
                </a:solidFill>
                <a:latin typeface="Calibri" pitchFamily="34" charset="0"/>
                <a:ea typeface="Calibri" pitchFamily="34" charset="-122"/>
                <a:cs typeface="Calibri" pitchFamily="34" charset="-120"/>
              </a:rPr>
              <a:t>Théorie absorbée. Maintenant : on met TOUT EN PLACE dans FlexShop.</a:t>
            </a:r>
            <a:endParaRPr lang="en-US" sz="1300" dirty="0"/>
          </a:p>
        </p:txBody>
      </p:sp>
      <p:sp>
        <p:nvSpPr>
          <p:cNvPr id="9" name="Text 7"/>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4572000" cy="27432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QUATRIÈME SÉANCE • TP COLLECTIF • 1H45</a:t>
            </a:r>
            <a:endParaRPr lang="en-US" sz="1000" dirty="0"/>
          </a:p>
        </p:txBody>
      </p:sp>
      <p:sp>
        <p:nvSpPr>
          <p:cNvPr id="3" name="Text 1"/>
          <p:cNvSpPr/>
          <p:nvPr/>
        </p:nvSpPr>
        <p:spPr>
          <a:xfrm>
            <a:off x="8229600" y="3657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51</a:t>
            </a:r>
            <a:endParaRPr lang="en-US" sz="1000" dirty="0"/>
          </a:p>
        </p:txBody>
      </p:sp>
      <p:sp>
        <p:nvSpPr>
          <p:cNvPr id="4" name="Text 2"/>
          <p:cNvSpPr/>
          <p:nvPr/>
        </p:nvSpPr>
        <p:spPr>
          <a:xfrm>
            <a:off x="457200" y="1645920"/>
            <a:ext cx="8229600"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S12 — TP : Auth + Gateway + intégration JWT</a:t>
            </a:r>
            <a:endParaRPr lang="en-US" sz="4000" dirty="0"/>
          </a:p>
        </p:txBody>
      </p:sp>
      <p:sp>
        <p:nvSpPr>
          <p:cNvPr id="5" name="Text 3"/>
          <p:cNvSpPr/>
          <p:nvPr/>
        </p:nvSpPr>
        <p:spPr>
          <a:xfrm>
            <a:off x="914400" y="3200400"/>
            <a:ext cx="7315200" cy="640080"/>
          </a:xfrm>
          <a:prstGeom prst="rect">
            <a:avLst/>
          </a:prstGeom>
          <a:noFill/>
          <a:ln/>
        </p:spPr>
        <p:txBody>
          <a:bodyPr wrap="square"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TP COLLECTIF — équipe Platform + équipes métier ensemble</a:t>
            </a:r>
            <a:endParaRPr lang="en-US" sz="1800" dirty="0"/>
          </a:p>
        </p:txBody>
      </p:sp>
      <p:sp>
        <p:nvSpPr>
          <p:cNvPr id="6" name="Shape 4"/>
          <p:cNvSpPr/>
          <p:nvPr/>
        </p:nvSpPr>
        <p:spPr>
          <a:xfrm>
            <a:off x="4114800" y="4572000"/>
            <a:ext cx="914400" cy="45720"/>
          </a:xfrm>
          <a:prstGeom prst="rect">
            <a:avLst/>
          </a:prstGeom>
          <a:solidFill>
            <a:srgbClr val="F96167"/>
          </a:solidFill>
          <a:ln w="12700">
            <a:solidFill>
              <a:srgbClr val="F96167"/>
            </a:solidFill>
            <a:prstDash val="solid"/>
          </a:ln>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AU MENU — 1H45 EN COLLECTIF</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52</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Programme du TP</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Mise au point initiale (10 min) — toutes les équipes ensemble</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Équipe Platform (1h) — code Auth service + configure Traefik</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Équipes métier (1h) — intègrent JWT dans leur service Symfony</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Démo bout-en-bout (15 min) — login → token → appel via Gateway</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Discussion : difficultés rencontrées, ce qui reste à finaliser</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Premier TP COLLECTIF du module — c'est la fluidité d'équipe qui est testée.</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7951C"/>
          </a:solidFill>
          <a:ln w="12700">
            <a:solidFill>
              <a:srgbClr val="C7951C"/>
            </a:solidFill>
            <a:prstDash val="solid"/>
          </a:ln>
        </p:spPr>
      </p:sp>
      <p:sp>
        <p:nvSpPr>
          <p:cNvPr id="3" name="Text 1"/>
          <p:cNvSpPr/>
          <p:nvPr/>
        </p:nvSpPr>
        <p:spPr>
          <a:xfrm>
            <a:off x="457200" y="274320"/>
            <a:ext cx="6400800" cy="320040"/>
          </a:xfrm>
          <a:prstGeom prst="rect">
            <a:avLst/>
          </a:prstGeom>
          <a:noFill/>
          <a:ln/>
        </p:spPr>
        <p:txBody>
          <a:bodyPr wrap="square" rtlCol="0" anchor="ctr"/>
          <a:lstStyle/>
          <a:p>
            <a:pPr indent="0" marL="0">
              <a:buNone/>
            </a:pPr>
            <a:r>
              <a:rPr lang="en-US" sz="1100" b="1" spc="300" kern="0" dirty="0">
                <a:solidFill>
                  <a:srgbClr val="C7951C"/>
                </a:solidFill>
                <a:latin typeface="Calibri" pitchFamily="34" charset="0"/>
                <a:ea typeface="Calibri" pitchFamily="34" charset="-122"/>
                <a:cs typeface="Calibri" pitchFamily="34" charset="-120"/>
              </a:rPr>
              <a:t>📖 DICO — À GARDER SOUS LES YEUX</a:t>
            </a:r>
            <a:endParaRPr lang="en-US" sz="11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53</a:t>
            </a:r>
            <a:endParaRPr lang="en-US" sz="1000" dirty="0"/>
          </a:p>
        </p:txBody>
      </p:sp>
      <p:sp>
        <p:nvSpPr>
          <p:cNvPr id="5" name="Text 3"/>
          <p:cNvSpPr/>
          <p:nvPr/>
        </p:nvSpPr>
        <p:spPr>
          <a:xfrm>
            <a:off x="457200" y="594360"/>
            <a:ext cx="8229600" cy="45720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Dico S12 — TP intégration</a:t>
            </a:r>
            <a:endParaRPr lang="en-US" sz="2200" dirty="0"/>
          </a:p>
        </p:txBody>
      </p:sp>
      <p:sp>
        <p:nvSpPr>
          <p:cNvPr id="6" name="Text 4"/>
          <p:cNvSpPr/>
          <p:nvPr/>
        </p:nvSpPr>
        <p:spPr>
          <a:xfrm>
            <a:off x="457200" y="100584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Outils et bundles techniques</a:t>
            </a:r>
            <a:endParaRPr lang="en-US" sz="1100" dirty="0"/>
          </a:p>
        </p:txBody>
      </p:sp>
      <p:sp>
        <p:nvSpPr>
          <p:cNvPr id="7" name="Text 5"/>
          <p:cNvSpPr/>
          <p:nvPr/>
        </p:nvSpPr>
        <p:spPr>
          <a:xfrm>
            <a:off x="457200" y="1325880"/>
            <a:ext cx="8229600" cy="228600"/>
          </a:xfrm>
          <a:prstGeom prst="rect">
            <a:avLst/>
          </a:prstGeom>
          <a:noFill/>
          <a:ln/>
        </p:spPr>
        <p:txBody>
          <a:bodyPr wrap="square" rtlCol="0" anchor="ctr"/>
          <a:lstStyle/>
          <a:p>
            <a:pPr indent="0" marL="0">
              <a:buNone/>
            </a:pPr>
            <a:r>
              <a:rPr lang="en-US" sz="1000" b="1" spc="200" kern="0" dirty="0">
                <a:solidFill>
                  <a:srgbClr val="2E7D32"/>
                </a:solidFill>
                <a:latin typeface="Calibri" pitchFamily="34" charset="0"/>
                <a:ea typeface="Calibri" pitchFamily="34" charset="-122"/>
                <a:cs typeface="Calibri" pitchFamily="34" charset="-120"/>
              </a:rPr>
              <a:t>⚡ NOUVEAUX TERMES</a:t>
            </a:r>
            <a:endParaRPr lang="en-US" sz="1000" dirty="0"/>
          </a:p>
        </p:txBody>
      </p:sp>
      <p:sp>
        <p:nvSpPr>
          <p:cNvPr id="8" name="Text 6"/>
          <p:cNvSpPr/>
          <p:nvPr/>
        </p:nvSpPr>
        <p:spPr>
          <a:xfrm>
            <a:off x="45720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LexikJWTAuthenticationBundle</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bundle Symfony pour émettre et valider des JWT</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Firewall Symfony</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système de sécurité par url-pattern</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Voter Symfony</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classe d'autorisation (équivalent permission)</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Security Bundle</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bundle core Symfony pour auth/autz</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Traefik labels</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configuration de Traefik via labels Docker</a:t>
            </a:r>
            <a:endParaRPr lang="en-US" sz="1000" dirty="0"/>
          </a:p>
        </p:txBody>
      </p:sp>
      <p:sp>
        <p:nvSpPr>
          <p:cNvPr id="9" name="Text 7"/>
          <p:cNvSpPr/>
          <p:nvPr/>
        </p:nvSpPr>
        <p:spPr>
          <a:xfrm>
            <a:off x="4663440" y="1600200"/>
            <a:ext cx="4023360" cy="2286000"/>
          </a:xfrm>
          <a:prstGeom prst="rect">
            <a:avLst/>
          </a:prstGeom>
          <a:noFill/>
          <a:ln/>
        </p:spPr>
        <p:txBody>
          <a:bodyPr wrap="square" rtlCol="0" anchor="ctr"/>
          <a:lstStyle/>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Middleware Traefik</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fonction intermédiaire (auth, rate, headers)</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Service discovery</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Traefik trouve les services automatiquement via Docker</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EntryPoint</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port d'écoute Traefik (web=80, websecure=443)</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Router (Traefik)</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règle qui mappe URL → service</a:t>
            </a:r>
            <a:endParaRPr lang="en-US" sz="1000" dirty="0"/>
          </a:p>
          <a:p>
            <a:pPr marL="342900" indent="-342900">
              <a:spcAft>
                <a:spcPts val="200"/>
              </a:spcAft>
              <a:buSzPct val="100000"/>
              <a:buChar char="•"/>
            </a:pPr>
            <a:r>
              <a:rPr lang="en-US" sz="1000" b="1" dirty="0">
                <a:solidFill>
                  <a:srgbClr val="1E2761"/>
                </a:solidFill>
                <a:latin typeface="Calibri" pitchFamily="34" charset="0"/>
                <a:ea typeface="Calibri" pitchFamily="34" charset="-122"/>
                <a:cs typeface="Calibri" pitchFamily="34" charset="-120"/>
              </a:rPr>
              <a:t>Healthcheck</a:t>
            </a:r>
            <a:pPr indent="0" marL="0">
              <a:spcAft>
                <a:spcPts val="200"/>
              </a:spcAft>
              <a:buNone/>
            </a:pPr>
            <a:r>
              <a:rPr lang="en-US" sz="1000" dirty="0">
                <a:solidFill>
                  <a:srgbClr val="1E2761"/>
                </a:solidFill>
                <a:latin typeface="Calibri" pitchFamily="34" charset="0"/>
                <a:ea typeface="Calibri" pitchFamily="34" charset="-122"/>
                <a:cs typeface="Calibri" pitchFamily="34" charset="-120"/>
              </a:rPr>
              <a:t> — endpoint /health qui dit si le service est vivant</a:t>
            </a:r>
            <a:endParaRPr lang="en-US" sz="1000" dirty="0"/>
          </a:p>
        </p:txBody>
      </p:sp>
      <p:sp>
        <p:nvSpPr>
          <p:cNvPr id="10" name="Shape 8"/>
          <p:cNvSpPr/>
          <p:nvPr/>
        </p:nvSpPr>
        <p:spPr>
          <a:xfrm>
            <a:off x="457200" y="3977640"/>
            <a:ext cx="8229600" cy="960120"/>
          </a:xfrm>
          <a:prstGeom prst="rect">
            <a:avLst/>
          </a:prstGeom>
          <a:solidFill>
            <a:srgbClr val="F4F4F4"/>
          </a:solidFill>
          <a:ln w="6350">
            <a:solidFill>
              <a:srgbClr val="5A6378"/>
            </a:solidFill>
            <a:prstDash val="solid"/>
          </a:ln>
        </p:spPr>
      </p:sp>
      <p:sp>
        <p:nvSpPr>
          <p:cNvPr id="11" name="Text 9"/>
          <p:cNvSpPr/>
          <p:nvPr/>
        </p:nvSpPr>
        <p:spPr>
          <a:xfrm>
            <a:off x="640080" y="4023360"/>
            <a:ext cx="7863840" cy="228600"/>
          </a:xfrm>
          <a:prstGeom prst="rect">
            <a:avLst/>
          </a:prstGeom>
          <a:noFill/>
          <a:ln/>
        </p:spPr>
        <p:txBody>
          <a:bodyPr wrap="square" rtlCol="0" anchor="ctr"/>
          <a:lstStyle/>
          <a:p>
            <a:pPr indent="0" marL="0">
              <a:buNone/>
            </a:pPr>
            <a:r>
              <a:rPr lang="en-US" sz="900" b="1" spc="200" kern="0" dirty="0">
                <a:solidFill>
                  <a:srgbClr val="5A6378"/>
                </a:solidFill>
                <a:latin typeface="Calibri" pitchFamily="34" charset="0"/>
                <a:ea typeface="Calibri" pitchFamily="34" charset="-122"/>
                <a:cs typeface="Calibri" pitchFamily="34" charset="-120"/>
              </a:rPr>
              <a:t>↺ RAPPEL — DÉJÀ VUS PRÉCÉDEMMENT</a:t>
            </a:r>
            <a:endParaRPr lang="en-US" sz="900" dirty="0"/>
          </a:p>
        </p:txBody>
      </p:sp>
      <p:sp>
        <p:nvSpPr>
          <p:cNvPr id="12" name="Text 10"/>
          <p:cNvSpPr/>
          <p:nvPr/>
        </p:nvSpPr>
        <p:spPr>
          <a:xfrm>
            <a:off x="640080" y="4251960"/>
            <a:ext cx="7863840" cy="640080"/>
          </a:xfrm>
          <a:prstGeom prst="rect">
            <a:avLst/>
          </a:prstGeom>
          <a:noFill/>
          <a:ln/>
        </p:spPr>
        <p:txBody>
          <a:bodyPr wrap="square" rtlCol="0" anchor="ctr"/>
          <a:lstStyle/>
          <a:p>
            <a:pPr indent="0" marL="0">
              <a:buNone/>
            </a:pPr>
            <a:r>
              <a:rPr lang="en-US" sz="900" b="1" dirty="0">
                <a:solidFill>
                  <a:srgbClr val="5A6378"/>
                </a:solidFill>
                <a:latin typeface="Calibri" pitchFamily="34" charset="0"/>
                <a:ea typeface="Calibri" pitchFamily="34" charset="-122"/>
                <a:cs typeface="Calibri" pitchFamily="34" charset="-120"/>
              </a:rPr>
              <a:t>Vu précédemment : </a:t>
            </a:r>
            <a:pPr indent="0" marL="0">
              <a:buNone/>
            </a:pPr>
            <a:r>
              <a:rPr lang="en-US" sz="900" b="1" dirty="0">
                <a:solidFill>
                  <a:srgbClr val="1E2761"/>
                </a:solidFill>
                <a:latin typeface="Calibri" pitchFamily="34" charset="0"/>
                <a:ea typeface="Calibri" pitchFamily="34" charset="-122"/>
                <a:cs typeface="Calibri" pitchFamily="34" charset="-120"/>
              </a:rPr>
              <a:t>JWT</a:t>
            </a:r>
            <a:pPr indent="0" marL="0">
              <a:buNone/>
            </a:pPr>
            <a:r>
              <a:rPr lang="en-US" sz="900" dirty="0">
                <a:solidFill>
                  <a:srgbClr val="5A6378"/>
                </a:solidFill>
                <a:latin typeface="Calibri" pitchFamily="34" charset="0"/>
                <a:ea typeface="Calibri" pitchFamily="34" charset="-122"/>
                <a:cs typeface="Calibri" pitchFamily="34" charset="-120"/>
              </a:rPr>
              <a:t> (S9) · </a:t>
            </a:r>
            <a:pPr indent="0" marL="0">
              <a:buNone/>
            </a:pPr>
            <a:r>
              <a:rPr lang="en-US" sz="900" b="1" dirty="0">
                <a:solidFill>
                  <a:srgbClr val="1E2761"/>
                </a:solidFill>
                <a:latin typeface="Calibri" pitchFamily="34" charset="0"/>
                <a:ea typeface="Calibri" pitchFamily="34" charset="-122"/>
                <a:cs typeface="Calibri" pitchFamily="34" charset="-120"/>
              </a:rPr>
              <a:t>Gateway</a:t>
            </a:r>
            <a:pPr indent="0" marL="0">
              <a:buNone/>
            </a:pPr>
            <a:r>
              <a:rPr lang="en-US" sz="900" dirty="0">
                <a:solidFill>
                  <a:srgbClr val="5A6378"/>
                </a:solidFill>
                <a:latin typeface="Calibri" pitchFamily="34" charset="0"/>
                <a:ea typeface="Calibri" pitchFamily="34" charset="-122"/>
                <a:cs typeface="Calibri" pitchFamily="34" charset="-120"/>
              </a:rPr>
              <a:t> (S11) · </a:t>
            </a:r>
            <a:pPr indent="0" marL="0">
              <a:buNone/>
            </a:pPr>
            <a:r>
              <a:rPr lang="en-US" sz="900" b="1" dirty="0">
                <a:solidFill>
                  <a:srgbClr val="1E2761"/>
                </a:solidFill>
                <a:latin typeface="Calibri" pitchFamily="34" charset="0"/>
                <a:ea typeface="Calibri" pitchFamily="34" charset="-122"/>
                <a:cs typeface="Calibri" pitchFamily="34" charset="-120"/>
              </a:rPr>
              <a:t>Symfony / API Platform</a:t>
            </a:r>
            <a:pPr indent="0" marL="0">
              <a:buNone/>
            </a:pPr>
            <a:r>
              <a:rPr lang="en-US" sz="900" dirty="0">
                <a:solidFill>
                  <a:srgbClr val="5A6378"/>
                </a:solidFill>
                <a:latin typeface="Calibri" pitchFamily="34" charset="0"/>
                <a:ea typeface="Calibri" pitchFamily="34" charset="-122"/>
                <a:cs typeface="Calibri" pitchFamily="34" charset="-120"/>
              </a:rPr>
              <a:t> (S7) · </a:t>
            </a:r>
            <a:pPr indent="0" marL="0">
              <a:buNone/>
            </a:pPr>
            <a:r>
              <a:rPr lang="en-US" sz="900" b="1" dirty="0">
                <a:solidFill>
                  <a:srgbClr val="1E2761"/>
                </a:solidFill>
                <a:latin typeface="Calibri" pitchFamily="34" charset="0"/>
                <a:ea typeface="Calibri" pitchFamily="34" charset="-122"/>
                <a:cs typeface="Calibri" pitchFamily="34" charset="-120"/>
              </a:rPr>
              <a:t>docker-compose</a:t>
            </a:r>
            <a:pPr indent="0" marL="0">
              <a:buNone/>
            </a:pPr>
            <a:r>
              <a:rPr lang="en-US" sz="900" dirty="0">
                <a:solidFill>
                  <a:srgbClr val="5A6378"/>
                </a:solidFill>
                <a:latin typeface="Calibri" pitchFamily="34" charset="0"/>
                <a:ea typeface="Calibri" pitchFamily="34" charset="-122"/>
                <a:cs typeface="Calibri" pitchFamily="34" charset="-120"/>
              </a:rPr>
              <a:t> (S8)</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VOTRE MISSION COLLECTIVE</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54</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Sécuriser FlexShop bout-en-bout</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Service Auth (Symfony + LexikJWT) qui émet des JWT et gère les utilisateurs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API Gateway Traefik qui route et expose un point d'entrée unique sur le port 80</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Chaque service métier vérifie le JWT à l'entrée de ses endpoints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Démo finale : un curl ou Postman qui se connecte, récupère un token, appelle un service via Traefik avec le token</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Coordination cruciale : les équipes métier dépendent de l'API Auth fournie par Platform.</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S12.1 — MISE AU POINT INITIALE (10 MIN)</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55</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On s'aligne avant de coder</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L'équipe Platform présente le contrat d'API du service Auth (endpoints, payload du JWT)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Les équipes métier identifient leurs endpoints à sécuriser (lesquels publics, lesquels privés)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Tout le monde valide le format du JWT (claims : sub, roles, exp)</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Décision : où placer le service Auth dans le docker-compose global</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Une page partagée (Google Doc, Discord pin) pour figer ces décisions.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S12.2 — ÉQUIPE PLATFORM (1H)</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56</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Votre mission : Auth + Gateway</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Initialiser le service Auth (Symfony + LexikJWT)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Coder POST /api/login et POST /api/register</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Configurer Traefik comme reverse proxy global</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Définir les routes Traefik vers chaque service</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Documenter le contrat pour les équipes métier</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Vous êtes des fournisseurs — les équipes métier dépendent de votre livraison.</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PLATFORM 1</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15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57</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Initialiser le service Auth</a:t>
            </a:r>
            <a:endParaRPr lang="en-US" sz="2600" dirty="0"/>
          </a:p>
        </p:txBody>
      </p:sp>
      <p:sp>
        <p:nvSpPr>
          <p:cNvPr id="7" name="Text 5"/>
          <p:cNvSpPr/>
          <p:nvPr/>
        </p:nvSpPr>
        <p:spPr>
          <a:xfrm>
            <a:off x="548640" y="1828800"/>
            <a:ext cx="8046720" cy="146304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Projet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nouveau Symfony avec API Platform</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Bundle clé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lexik/jwt-authentication-bundle</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Configurer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clés RSA générées via console (pas un secret en dur)</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Entité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User avec email, password (hashé), roles</a:t>
            </a:r>
            <a:endParaRPr lang="en-US" sz="1400" dirty="0"/>
          </a:p>
        </p:txBody>
      </p:sp>
      <p:sp>
        <p:nvSpPr>
          <p:cNvPr id="8" name="Shape 6"/>
          <p:cNvSpPr/>
          <p:nvPr/>
        </p:nvSpPr>
        <p:spPr>
          <a:xfrm>
            <a:off x="457200" y="3383280"/>
            <a:ext cx="8229600" cy="1554480"/>
          </a:xfrm>
          <a:prstGeom prst="rect">
            <a:avLst/>
          </a:prstGeom>
          <a:solidFill>
            <a:srgbClr val="1E2761"/>
          </a:solidFill>
          <a:ln w="12700">
            <a:solidFill>
              <a:srgbClr val="1E2761"/>
            </a:solidFill>
            <a:prstDash val="solid"/>
          </a:ln>
        </p:spPr>
      </p:sp>
      <p:sp>
        <p:nvSpPr>
          <p:cNvPr id="9" name="Text 7"/>
          <p:cNvSpPr/>
          <p:nvPr/>
        </p:nvSpPr>
        <p:spPr>
          <a:xfrm>
            <a:off x="640080" y="3429000"/>
            <a:ext cx="7863840" cy="1463040"/>
          </a:xfrm>
          <a:prstGeom prst="rect">
            <a:avLst/>
          </a:prstGeom>
          <a:noFill/>
          <a:ln/>
        </p:spPr>
        <p:txBody>
          <a:bodyPr wrap="square" rtlCol="0" anchor="t"/>
          <a:lstStyle/>
          <a:p>
            <a:pPr indent="0" marL="0">
              <a:buNone/>
            </a:pPr>
            <a:r>
              <a:rPr lang="en-US" sz="1100" dirty="0">
                <a:solidFill>
                  <a:srgbClr val="CADCFC"/>
                </a:solidFill>
                <a:latin typeface="Consolas" pitchFamily="34" charset="0"/>
                <a:ea typeface="Consolas" pitchFamily="34" charset="-122"/>
                <a:cs typeface="Consolas" pitchFamily="34" charset="-120"/>
              </a:rPr>
              <a:t>$ composer create-project symfony/skeleton auth-service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cd auth-service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composer require api orm lexik/jwt-authentication-bundle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php bin/console lexik:jwt:generate-keypair</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php bin/console make:user --is-entity</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PLATFORM 2</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15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58</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Endpoints /login et /register</a:t>
            </a:r>
            <a:endParaRPr lang="en-US" sz="2600" dirty="0"/>
          </a:p>
        </p:txBody>
      </p:sp>
      <p:sp>
        <p:nvSpPr>
          <p:cNvPr id="7" name="Text 5"/>
          <p:cNvSpPr/>
          <p:nvPr/>
        </p:nvSpPr>
        <p:spPr>
          <a:xfrm>
            <a:off x="548640" y="1828800"/>
            <a:ext cx="8046720" cy="146304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/api/login_check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fourni par LexikJWT — accepte email+password, renvoie un JWT</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/api/register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à coder — crée un User, hash le password, renvoie 201</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Configurer security.yaml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json_login + jwt firewall</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Tester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POST /api/login → recevoir un token</a:t>
            </a:r>
            <a:endParaRPr lang="en-US" sz="1400" dirty="0"/>
          </a:p>
        </p:txBody>
      </p:sp>
      <p:sp>
        <p:nvSpPr>
          <p:cNvPr id="8" name="Shape 6"/>
          <p:cNvSpPr/>
          <p:nvPr/>
        </p:nvSpPr>
        <p:spPr>
          <a:xfrm>
            <a:off x="457200" y="3383280"/>
            <a:ext cx="8229600" cy="1554480"/>
          </a:xfrm>
          <a:prstGeom prst="rect">
            <a:avLst/>
          </a:prstGeom>
          <a:solidFill>
            <a:srgbClr val="1E2761"/>
          </a:solidFill>
          <a:ln w="12700">
            <a:solidFill>
              <a:srgbClr val="1E2761"/>
            </a:solidFill>
            <a:prstDash val="solid"/>
          </a:ln>
        </p:spPr>
      </p:sp>
      <p:sp>
        <p:nvSpPr>
          <p:cNvPr id="9" name="Text 7"/>
          <p:cNvSpPr/>
          <p:nvPr/>
        </p:nvSpPr>
        <p:spPr>
          <a:xfrm>
            <a:off x="640080" y="3429000"/>
            <a:ext cx="7863840" cy="1463040"/>
          </a:xfrm>
          <a:prstGeom prst="rect">
            <a:avLst/>
          </a:prstGeom>
          <a:noFill/>
          <a:ln/>
        </p:spPr>
        <p:txBody>
          <a:bodyPr wrap="square" rtlCol="0" anchor="t"/>
          <a:lstStyle/>
          <a:p>
            <a:pPr indent="0" marL="0">
              <a:buNone/>
            </a:pPr>
            <a:r>
              <a:rPr lang="en-US" sz="1100" dirty="0">
                <a:solidFill>
                  <a:srgbClr val="CADCFC"/>
                </a:solidFill>
                <a:latin typeface="Consolas" pitchFamily="34" charset="0"/>
                <a:ea typeface="Consolas" pitchFamily="34" charset="-122"/>
                <a:cs typeface="Consolas" pitchFamily="34" charset="-120"/>
              </a:rPr>
              <a:t># config/packages/security.yaml</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firewalls: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login:</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pattern: ^/api/login</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stateless: true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json_login:</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check_path: /api/login_check</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success_handler: lexik_jwt_authentication.handler.authentication_success</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PLATFORM 3</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15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59</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Configurer Traefik dans docker-compose</a:t>
            </a:r>
            <a:endParaRPr lang="en-US" sz="2600" dirty="0"/>
          </a:p>
        </p:txBody>
      </p:sp>
      <p:sp>
        <p:nvSpPr>
          <p:cNvPr id="7" name="Text 5"/>
          <p:cNvSpPr/>
          <p:nvPr/>
        </p:nvSpPr>
        <p:spPr>
          <a:xfrm>
            <a:off x="548640" y="1828800"/>
            <a:ext cx="8046720" cy="146304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Service traefik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image traefik:v3.0, ports 80 et 8080 (dashboard)</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Labels Docker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Traefik découvre les services via labels</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Router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PathPrefix(`/api/auth`) → auth-service</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Autres routes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/api/catalog → catalog, /api/reviews → avis-clients, etc.</a:t>
            </a:r>
            <a:endParaRPr lang="en-US" sz="1400" dirty="0"/>
          </a:p>
        </p:txBody>
      </p:sp>
      <p:sp>
        <p:nvSpPr>
          <p:cNvPr id="8" name="Shape 6"/>
          <p:cNvSpPr/>
          <p:nvPr/>
        </p:nvSpPr>
        <p:spPr>
          <a:xfrm>
            <a:off x="457200" y="3383280"/>
            <a:ext cx="8229600" cy="1554480"/>
          </a:xfrm>
          <a:prstGeom prst="rect">
            <a:avLst/>
          </a:prstGeom>
          <a:solidFill>
            <a:srgbClr val="1E2761"/>
          </a:solidFill>
          <a:ln w="12700">
            <a:solidFill>
              <a:srgbClr val="1E2761"/>
            </a:solidFill>
            <a:prstDash val="solid"/>
          </a:ln>
        </p:spPr>
      </p:sp>
      <p:sp>
        <p:nvSpPr>
          <p:cNvPr id="9" name="Text 7"/>
          <p:cNvSpPr/>
          <p:nvPr/>
        </p:nvSpPr>
        <p:spPr>
          <a:xfrm>
            <a:off x="640080" y="3429000"/>
            <a:ext cx="7863840" cy="1463040"/>
          </a:xfrm>
          <a:prstGeom prst="rect">
            <a:avLst/>
          </a:prstGeom>
          <a:noFill/>
          <a:ln/>
        </p:spPr>
        <p:txBody>
          <a:bodyPr wrap="square" rtlCol="0" anchor="t"/>
          <a:lstStyle/>
          <a:p>
            <a:pPr indent="0" marL="0">
              <a:buNone/>
            </a:pPr>
            <a:r>
              <a:rPr lang="en-US" sz="1100" dirty="0">
                <a:solidFill>
                  <a:srgbClr val="CADCFC"/>
                </a:solidFill>
                <a:latin typeface="Consolas" pitchFamily="34" charset="0"/>
                <a:ea typeface="Consolas" pitchFamily="34" charset="-122"/>
                <a:cs typeface="Consolas" pitchFamily="34" charset="-120"/>
              </a:rPr>
              <a:t>services: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traefik:</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image: traefik:v3.0</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command: --providers.docker --api.insecure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ports: ["80:80", "8080:8080"]</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volumes: ["/var/run/docker.sock:/var/run/docker.sock"]</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auth-service: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labels: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 "traefik.http.routers.auth.rule=PathPrefix(`/api/auth`)"</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PLATFORM 4</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10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60</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Documenter le contrat pour les équipes métier</a:t>
            </a:r>
            <a:endParaRPr lang="en-US" sz="2600" dirty="0"/>
          </a:p>
        </p:txBody>
      </p:sp>
      <p:sp>
        <p:nvSpPr>
          <p:cNvPr id="7" name="Text 5"/>
          <p:cNvSpPr/>
          <p:nvPr/>
        </p:nvSpPr>
        <p:spPr>
          <a:xfrm>
            <a:off x="548640" y="1828800"/>
            <a:ext cx="8046720" cy="292608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Publier sur Git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README dans repo Platform avec exemples curl</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Endpoints disponibles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POST /api/auth/register, POST /api/auth/login_check</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Format du JWT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claims documentés (sub, email, roles, exp)</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Clé publique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fournir public.pem pour que les services valident sans contacter Auth</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w="12700">
            <a:solidFill>
              <a:srgbClr val="2E7D32"/>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CHECKPOINT — ON FAIT LE POINT</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61</a:t>
            </a:r>
            <a:endParaRPr lang="en-US" sz="1000" dirty="0"/>
          </a:p>
        </p:txBody>
      </p:sp>
      <p:sp>
        <p:nvSpPr>
          <p:cNvPr id="5" name="Text 3"/>
          <p:cNvSpPr/>
          <p:nvPr/>
        </p:nvSpPr>
        <p:spPr>
          <a:xfrm>
            <a:off x="457200" y="1097280"/>
            <a:ext cx="8229600" cy="73152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Checkpoint Platform — vous avez fini quand...</a:t>
            </a:r>
            <a:endParaRPr lang="en-US" sz="2400" dirty="0"/>
          </a:p>
        </p:txBody>
      </p:sp>
      <p:sp>
        <p:nvSpPr>
          <p:cNvPr id="6" name="Shape 4"/>
          <p:cNvSpPr/>
          <p:nvPr/>
        </p:nvSpPr>
        <p:spPr>
          <a:xfrm>
            <a:off x="914400" y="2103120"/>
            <a:ext cx="7315200" cy="2468880"/>
          </a:xfrm>
          <a:prstGeom prst="rect">
            <a:avLst/>
          </a:prstGeom>
          <a:solidFill>
            <a:srgbClr val="F4F4F4"/>
          </a:solidFill>
          <a:ln w="19050">
            <a:solidFill>
              <a:srgbClr val="2E7D32"/>
            </a:solidFill>
            <a:prstDash val="solid"/>
          </a:ln>
        </p:spPr>
      </p:sp>
      <p:sp>
        <p:nvSpPr>
          <p:cNvPr id="7" name="Text 5"/>
          <p:cNvSpPr/>
          <p:nvPr/>
        </p:nvSpPr>
        <p:spPr>
          <a:xfrm>
            <a:off x="1097280" y="2240280"/>
            <a:ext cx="6949440" cy="27432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À CE STADE, VOUS DEVRIEZ AVOIR :</a:t>
            </a:r>
            <a:endParaRPr lang="en-US" sz="1100" dirty="0"/>
          </a:p>
        </p:txBody>
      </p:sp>
      <p:sp>
        <p:nvSpPr>
          <p:cNvPr id="8" name="Text 6"/>
          <p:cNvSpPr/>
          <p:nvPr/>
        </p:nvSpPr>
        <p:spPr>
          <a:xfrm>
            <a:off x="1097280" y="2606040"/>
            <a:ext cx="6949440" cy="1920240"/>
          </a:xfrm>
          <a:prstGeom prst="rect">
            <a:avLst/>
          </a:prstGeom>
          <a:noFill/>
          <a:ln/>
        </p:spPr>
        <p:txBody>
          <a:bodyPr wrap="square" rtlCol="0" anchor="ctr"/>
          <a:lstStyle/>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Le service Auth tourne dans Docker et répond aux requêtes</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POST /api/auth/login_check avec un user valide renvoie un JWT</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Traefik route correctement /api/auth/* vers le service Auth</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Vous avez fourni la clé publique aux équipes métier</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Le README explique aux équipes comment intégrer JWT</a:t>
            </a:r>
            <a:endParaRPr lang="en-US" sz="1400" dirty="0"/>
          </a:p>
        </p:txBody>
      </p:sp>
      <p:sp>
        <p:nvSpPr>
          <p:cNvPr id="9" name="Text 7"/>
          <p:cNvSpPr/>
          <p:nvPr/>
        </p:nvSpPr>
        <p:spPr>
          <a:xfrm>
            <a:off x="457200" y="4709160"/>
            <a:ext cx="8229600" cy="274320"/>
          </a:xfrm>
          <a:prstGeom prst="rect">
            <a:avLst/>
          </a:prstGeom>
          <a:noFill/>
          <a:ln/>
        </p:spPr>
        <p:txBody>
          <a:bodyPr wrap="square" rtlCol="0" anchor="ctr"/>
          <a:lstStyle/>
          <a:p>
            <a:pPr algn="ctr" indent="0" marL="0">
              <a:buNone/>
            </a:pPr>
            <a:r>
              <a:rPr lang="en-US" sz="1100" i="1" dirty="0">
                <a:solidFill>
                  <a:srgbClr val="5A6378"/>
                </a:solidFill>
                <a:latin typeface="Calibri" pitchFamily="34" charset="0"/>
                <a:ea typeface="Calibri" pitchFamily="34" charset="-122"/>
                <a:cs typeface="Calibri" pitchFamily="34" charset="-120"/>
              </a:rPr>
              <a:t>Si bloqué : levez la main, on débugue ensemble.</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S12.3 — ÉQUIPES MÉTIER (1H)</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62</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Votre mission : intégrer JWT dans votre service</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Installer LexikJWTAuthenticationBundle</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Configurer security.yaml avec firewall JWT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Mettre les endpoints sensibles en authenticated</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Tester avec Postman (token Bearer requis)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Ajouter les labels Traefik pour exposer via la gateway</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Vous êtes les CONSOMMATEURS du service Auth fourni par l'équipe Platform.</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MÉTIER 1</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15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63</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Installer et configurer LexikJWT</a:t>
            </a:r>
            <a:endParaRPr lang="en-US" sz="2600" dirty="0"/>
          </a:p>
        </p:txBody>
      </p:sp>
      <p:sp>
        <p:nvSpPr>
          <p:cNvPr id="7" name="Text 5"/>
          <p:cNvSpPr/>
          <p:nvPr/>
        </p:nvSpPr>
        <p:spPr>
          <a:xfrm>
            <a:off x="548640" y="1828800"/>
            <a:ext cx="8046720" cy="146304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Installer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composer require lexik/jwt-authentication-bundle</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Récupérer la clé publique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fournie par l'équipe Platform</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Variables env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JWT_PUBLIC_KEY, JWT_PASSPHRASE</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Firewall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configurer security.yaml en mode jwt-only (pas de login local)</a:t>
            </a:r>
            <a:endParaRPr lang="en-US" sz="1400" dirty="0"/>
          </a:p>
        </p:txBody>
      </p:sp>
      <p:sp>
        <p:nvSpPr>
          <p:cNvPr id="8" name="Shape 6"/>
          <p:cNvSpPr/>
          <p:nvPr/>
        </p:nvSpPr>
        <p:spPr>
          <a:xfrm>
            <a:off x="457200" y="3383280"/>
            <a:ext cx="8229600" cy="1554480"/>
          </a:xfrm>
          <a:prstGeom prst="rect">
            <a:avLst/>
          </a:prstGeom>
          <a:solidFill>
            <a:srgbClr val="1E2761"/>
          </a:solidFill>
          <a:ln w="12700">
            <a:solidFill>
              <a:srgbClr val="1E2761"/>
            </a:solidFill>
            <a:prstDash val="solid"/>
          </a:ln>
        </p:spPr>
      </p:sp>
      <p:sp>
        <p:nvSpPr>
          <p:cNvPr id="9" name="Text 7"/>
          <p:cNvSpPr/>
          <p:nvPr/>
        </p:nvSpPr>
        <p:spPr>
          <a:xfrm>
            <a:off x="640080" y="3429000"/>
            <a:ext cx="7863840" cy="1463040"/>
          </a:xfrm>
          <a:prstGeom prst="rect">
            <a:avLst/>
          </a:prstGeom>
          <a:noFill/>
          <a:ln/>
        </p:spPr>
        <p:txBody>
          <a:bodyPr wrap="square" rtlCol="0" anchor="t"/>
          <a:lstStyle/>
          <a:p>
            <a:pPr indent="0" marL="0">
              <a:buNone/>
            </a:pPr>
            <a:r>
              <a:rPr lang="en-US" sz="1100" dirty="0">
                <a:solidFill>
                  <a:srgbClr val="CADCFC"/>
                </a:solidFill>
                <a:latin typeface="Consolas" pitchFamily="34" charset="0"/>
                <a:ea typeface="Consolas" pitchFamily="34" charset="-122"/>
                <a:cs typeface="Consolas" pitchFamily="34" charset="-120"/>
              </a:rPr>
              <a:t># config/packages/security.yaml</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firewalls: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api:</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pattern: ^/api</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stateless: true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jwt: ~</a:t>
            </a:r>
            <a:endParaRPr lang="en-US" sz="1100" dirty="0"/>
          </a:p>
          <a:p>
            <a:pPr indent="0" marL="0">
              <a:buNone/>
            </a:pP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access_control:</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 { path: ^/api/reviews, roles: IS_AUTHENTICATED_FULLY }</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MÉTIER 2</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15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64</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Sécuriser vos endpoints API Platform</a:t>
            </a:r>
            <a:endParaRPr lang="en-US" sz="2600" dirty="0"/>
          </a:p>
        </p:txBody>
      </p:sp>
      <p:sp>
        <p:nvSpPr>
          <p:cNvPr id="7" name="Text 5"/>
          <p:cNvSpPr/>
          <p:nvPr/>
        </p:nvSpPr>
        <p:spPr>
          <a:xfrm>
            <a:off x="548640" y="1828800"/>
            <a:ext cx="8046720" cy="146304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Annotation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#[ApiResource(security: "is_granted('ROLE_USER')")]</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Opérations sensibles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POST, PATCH, DELETE → auth obligatoire</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GET public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lecture publique des avis = laisser sans auth</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Voter custom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l'auteur d'un avis peut le supprimer, pas les autres</a:t>
            </a:r>
            <a:endParaRPr lang="en-US" sz="1400" dirty="0"/>
          </a:p>
        </p:txBody>
      </p:sp>
      <p:sp>
        <p:nvSpPr>
          <p:cNvPr id="8" name="Shape 6"/>
          <p:cNvSpPr/>
          <p:nvPr/>
        </p:nvSpPr>
        <p:spPr>
          <a:xfrm>
            <a:off x="457200" y="3383280"/>
            <a:ext cx="8229600" cy="1554480"/>
          </a:xfrm>
          <a:prstGeom prst="rect">
            <a:avLst/>
          </a:prstGeom>
          <a:solidFill>
            <a:srgbClr val="1E2761"/>
          </a:solidFill>
          <a:ln w="12700">
            <a:solidFill>
              <a:srgbClr val="1E2761"/>
            </a:solidFill>
            <a:prstDash val="solid"/>
          </a:ln>
        </p:spPr>
      </p:sp>
      <p:sp>
        <p:nvSpPr>
          <p:cNvPr id="9" name="Text 7"/>
          <p:cNvSpPr/>
          <p:nvPr/>
        </p:nvSpPr>
        <p:spPr>
          <a:xfrm>
            <a:off x="640080" y="3429000"/>
            <a:ext cx="7863840" cy="1463040"/>
          </a:xfrm>
          <a:prstGeom prst="rect">
            <a:avLst/>
          </a:prstGeom>
          <a:noFill/>
          <a:ln/>
        </p:spPr>
        <p:txBody>
          <a:bodyPr wrap="square" rtlCol="0" anchor="t"/>
          <a:lstStyle/>
          <a:p>
            <a:pPr indent="0" marL="0">
              <a:buNone/>
            </a:pPr>
            <a:r>
              <a:rPr lang="en-US" sz="1100" dirty="0">
                <a:solidFill>
                  <a:srgbClr val="CADCFC"/>
                </a:solidFill>
                <a:latin typeface="Consolas" pitchFamily="34" charset="0"/>
                <a:ea typeface="Consolas" pitchFamily="34" charset="-122"/>
                <a:cs typeface="Consolas" pitchFamily="34" charset="-120"/>
              </a:rPr>
              <a:t>#[ApiResource(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operations: [</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new GetCollection(),  // public</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new Post(security: "is_granted('ROLE_USER')"),</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new Delete(security: "is_granted('REVIEW_OWNER', object)")</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class Review { ... }</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MÉTIER 3</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15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65</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Tester avec Postman + token</a:t>
            </a:r>
            <a:endParaRPr lang="en-US" sz="2600" dirty="0"/>
          </a:p>
        </p:txBody>
      </p:sp>
      <p:sp>
        <p:nvSpPr>
          <p:cNvPr id="7" name="Text 5"/>
          <p:cNvSpPr/>
          <p:nvPr/>
        </p:nvSpPr>
        <p:spPr>
          <a:xfrm>
            <a:off x="548640" y="1828800"/>
            <a:ext cx="8046720" cy="146304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Étape 1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POST /api/auth/login_check (via Gateway) → récupérer le JWT</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Étape 2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POST /api/reviews sans token → 401 Unauthorized attendu</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Étape 3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POST /api/reviews avec header Authorization: Bearer &lt;token&gt; → 201 attendu</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Étape 4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DELETE /api/reviews/{id} avec un autre user → 403 Forbidden attendu</a:t>
            </a:r>
            <a:endParaRPr lang="en-US" sz="1400" dirty="0"/>
          </a:p>
        </p:txBody>
      </p:sp>
      <p:sp>
        <p:nvSpPr>
          <p:cNvPr id="8" name="Shape 6"/>
          <p:cNvSpPr/>
          <p:nvPr/>
        </p:nvSpPr>
        <p:spPr>
          <a:xfrm>
            <a:off x="457200" y="3383280"/>
            <a:ext cx="8229600" cy="1554480"/>
          </a:xfrm>
          <a:prstGeom prst="rect">
            <a:avLst/>
          </a:prstGeom>
          <a:solidFill>
            <a:srgbClr val="1E2761"/>
          </a:solidFill>
          <a:ln w="12700">
            <a:solidFill>
              <a:srgbClr val="1E2761"/>
            </a:solidFill>
            <a:prstDash val="solid"/>
          </a:ln>
        </p:spPr>
      </p:sp>
      <p:sp>
        <p:nvSpPr>
          <p:cNvPr id="9" name="Text 7"/>
          <p:cNvSpPr/>
          <p:nvPr/>
        </p:nvSpPr>
        <p:spPr>
          <a:xfrm>
            <a:off x="640080" y="3429000"/>
            <a:ext cx="7863840" cy="1463040"/>
          </a:xfrm>
          <a:prstGeom prst="rect">
            <a:avLst/>
          </a:prstGeom>
          <a:noFill/>
          <a:ln/>
        </p:spPr>
        <p:txBody>
          <a:bodyPr wrap="square" rtlCol="0" anchor="t"/>
          <a:lstStyle/>
          <a:p>
            <a:pPr indent="0" marL="0">
              <a:buNone/>
            </a:pPr>
            <a:r>
              <a:rPr lang="en-US" sz="1100" dirty="0">
                <a:solidFill>
                  <a:srgbClr val="CADCFC"/>
                </a:solidFill>
                <a:latin typeface="Consolas" pitchFamily="34" charset="0"/>
                <a:ea typeface="Consolas" pitchFamily="34" charset="-122"/>
                <a:cs typeface="Consolas" pitchFamily="34" charset="-120"/>
              </a:rPr>
              <a:t># Postman : ajouter dans Headers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Authorization: Bearer eyJhbGciOiJSUzI1NiIs...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Content-Type: application/json</a:t>
            </a:r>
            <a:endParaRPr lang="en-US" sz="1100" dirty="0"/>
          </a:p>
          <a:p>
            <a:pPr indent="0" marL="0">
              <a:buNone/>
            </a:pP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ou en curl :</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curl -H "Authorization: Bearer $TOKEN" \</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-X POST http://localhost/api/reviews</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7951C"/>
          </a:solidFill>
          <a:ln w="12700">
            <a:solidFill>
              <a:srgbClr val="C7951C"/>
            </a:solidFill>
            <a:prstDash val="solid"/>
          </a:ln>
        </p:spPr>
      </p:sp>
      <p:sp>
        <p:nvSpPr>
          <p:cNvPr id="3" name="Text 1"/>
          <p:cNvSpPr/>
          <p:nvPr/>
        </p:nvSpPr>
        <p:spPr>
          <a:xfrm>
            <a:off x="457200" y="228600"/>
            <a:ext cx="36576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ÉTAPE MÉTIER 4</a:t>
            </a:r>
            <a:endParaRPr lang="en-US" sz="1400" dirty="0"/>
          </a:p>
        </p:txBody>
      </p:sp>
      <p:sp>
        <p:nvSpPr>
          <p:cNvPr id="4" name="Text 2"/>
          <p:cNvSpPr/>
          <p:nvPr/>
        </p:nvSpPr>
        <p:spPr>
          <a:xfrm>
            <a:off x="5486400" y="228600"/>
            <a:ext cx="2743200" cy="365760"/>
          </a:xfrm>
          <a:prstGeom prst="rect">
            <a:avLst/>
          </a:prstGeom>
          <a:noFill/>
          <a:ln/>
        </p:spPr>
        <p:txBody>
          <a:bodyPr wrap="square"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 10 min</a:t>
            </a:r>
            <a:endParaRPr lang="en-US" sz="1200" dirty="0"/>
          </a:p>
        </p:txBody>
      </p:sp>
      <p:sp>
        <p:nvSpPr>
          <p:cNvPr id="5" name="Text 3"/>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66</a:t>
            </a:r>
            <a:endParaRPr lang="en-US" sz="1000" dirty="0"/>
          </a:p>
        </p:txBody>
      </p:sp>
      <p:sp>
        <p:nvSpPr>
          <p:cNvPr id="6" name="Text 4"/>
          <p:cNvSpPr/>
          <p:nvPr/>
        </p:nvSpPr>
        <p:spPr>
          <a:xfrm>
            <a:off x="457200" y="1051560"/>
            <a:ext cx="8229600" cy="64008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Labels Traefik pour exposer via Gateway</a:t>
            </a:r>
            <a:endParaRPr lang="en-US" sz="2600" dirty="0"/>
          </a:p>
        </p:txBody>
      </p:sp>
      <p:sp>
        <p:nvSpPr>
          <p:cNvPr id="7" name="Text 5"/>
          <p:cNvSpPr/>
          <p:nvPr/>
        </p:nvSpPr>
        <p:spPr>
          <a:xfrm>
            <a:off x="548640" y="1828800"/>
            <a:ext cx="8046720" cy="1463040"/>
          </a:xfrm>
          <a:prstGeom prst="rect">
            <a:avLst/>
          </a:prstGeom>
          <a:noFill/>
          <a:ln/>
        </p:spPr>
        <p:txBody>
          <a:bodyPr wrap="square" rtlCol="0" anchor="ctr"/>
          <a:lstStyle/>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Ajouter dans docker-compose.yml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labels Traefik sur votre service</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Router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PathPrefix(`/api/reviews`) → avis-clients (adapter au service)</a:t>
            </a:r>
            <a:endParaRPr lang="en-US" sz="1400" dirty="0"/>
          </a:p>
          <a:p>
            <a:pPr marL="342900" indent="-342900">
              <a:spcAft>
                <a:spcPts val="400"/>
              </a:spcAft>
              <a:buSzPct val="100000"/>
              <a:buChar char="•"/>
            </a:pPr>
            <a:r>
              <a:rPr lang="en-US" sz="1400" b="1" dirty="0">
                <a:solidFill>
                  <a:srgbClr val="1E2761"/>
                </a:solidFill>
                <a:latin typeface="Calibri" pitchFamily="34" charset="0"/>
                <a:ea typeface="Calibri" pitchFamily="34" charset="-122"/>
                <a:cs typeface="Calibri" pitchFamily="34" charset="-120"/>
              </a:rPr>
              <a:t>Vérifier : </a:t>
            </a:r>
            <a:pPr indent="0" marL="0">
              <a:spcAft>
                <a:spcPts val="400"/>
              </a:spcAft>
              <a:buNone/>
            </a:pPr>
            <a:r>
              <a:rPr lang="en-US" sz="1400" dirty="0">
                <a:solidFill>
                  <a:srgbClr val="1E2761"/>
                </a:solidFill>
                <a:latin typeface="Calibri" pitchFamily="34" charset="0"/>
                <a:ea typeface="Calibri" pitchFamily="34" charset="-122"/>
                <a:cs typeface="Calibri" pitchFamily="34" charset="-120"/>
              </a:rPr>
              <a:t>appel via http://localhost/api/reviews (port 80, via Traefik)</a:t>
            </a:r>
            <a:endParaRPr lang="en-US" sz="1400" dirty="0"/>
          </a:p>
        </p:txBody>
      </p:sp>
      <p:sp>
        <p:nvSpPr>
          <p:cNvPr id="8" name="Shape 6"/>
          <p:cNvSpPr/>
          <p:nvPr/>
        </p:nvSpPr>
        <p:spPr>
          <a:xfrm>
            <a:off x="457200" y="3383280"/>
            <a:ext cx="8229600" cy="1554480"/>
          </a:xfrm>
          <a:prstGeom prst="rect">
            <a:avLst/>
          </a:prstGeom>
          <a:solidFill>
            <a:srgbClr val="1E2761"/>
          </a:solidFill>
          <a:ln w="12700">
            <a:solidFill>
              <a:srgbClr val="1E2761"/>
            </a:solidFill>
            <a:prstDash val="solid"/>
          </a:ln>
        </p:spPr>
      </p:sp>
      <p:sp>
        <p:nvSpPr>
          <p:cNvPr id="9" name="Text 7"/>
          <p:cNvSpPr/>
          <p:nvPr/>
        </p:nvSpPr>
        <p:spPr>
          <a:xfrm>
            <a:off x="640080" y="3429000"/>
            <a:ext cx="7863840" cy="1463040"/>
          </a:xfrm>
          <a:prstGeom prst="rect">
            <a:avLst/>
          </a:prstGeom>
          <a:noFill/>
          <a:ln/>
        </p:spPr>
        <p:txBody>
          <a:bodyPr wrap="square" rtlCol="0" anchor="t"/>
          <a:lstStyle/>
          <a:p>
            <a:pPr indent="0" marL="0">
              <a:buNone/>
            </a:pPr>
            <a:r>
              <a:rPr lang="en-US" sz="1100" dirty="0">
                <a:solidFill>
                  <a:srgbClr val="CADCFC"/>
                </a:solidFill>
                <a:latin typeface="Consolas" pitchFamily="34" charset="0"/>
                <a:ea typeface="Consolas" pitchFamily="34" charset="-122"/>
                <a:cs typeface="Consolas" pitchFamily="34" charset="-120"/>
              </a:rPr>
              <a:t>avis-clients: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build: ./avis-clients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labels: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 "traefik.enable=true"</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 "traefik.http.routers.avis.rule=PathPrefix(`/api/reviews`)"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 "traefik.http.services.avis.loadbalancer.server.port=8000"</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networks:</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 flexshop-net</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w="12700">
            <a:solidFill>
              <a:srgbClr val="2E7D32"/>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CHECKPOINT — ON FAIT LE POINT</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67</a:t>
            </a:r>
            <a:endParaRPr lang="en-US" sz="1000" dirty="0"/>
          </a:p>
        </p:txBody>
      </p:sp>
      <p:sp>
        <p:nvSpPr>
          <p:cNvPr id="5" name="Text 3"/>
          <p:cNvSpPr/>
          <p:nvPr/>
        </p:nvSpPr>
        <p:spPr>
          <a:xfrm>
            <a:off x="457200" y="1097280"/>
            <a:ext cx="8229600" cy="73152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Checkpoint Métier — vous avez fini quand...</a:t>
            </a:r>
            <a:endParaRPr lang="en-US" sz="2400" dirty="0"/>
          </a:p>
        </p:txBody>
      </p:sp>
      <p:sp>
        <p:nvSpPr>
          <p:cNvPr id="6" name="Shape 4"/>
          <p:cNvSpPr/>
          <p:nvPr/>
        </p:nvSpPr>
        <p:spPr>
          <a:xfrm>
            <a:off x="914400" y="2103120"/>
            <a:ext cx="7315200" cy="2468880"/>
          </a:xfrm>
          <a:prstGeom prst="rect">
            <a:avLst/>
          </a:prstGeom>
          <a:solidFill>
            <a:srgbClr val="F4F4F4"/>
          </a:solidFill>
          <a:ln w="19050">
            <a:solidFill>
              <a:srgbClr val="2E7D32"/>
            </a:solidFill>
            <a:prstDash val="solid"/>
          </a:ln>
        </p:spPr>
      </p:sp>
      <p:sp>
        <p:nvSpPr>
          <p:cNvPr id="7" name="Text 5"/>
          <p:cNvSpPr/>
          <p:nvPr/>
        </p:nvSpPr>
        <p:spPr>
          <a:xfrm>
            <a:off x="1097280" y="2240280"/>
            <a:ext cx="6949440" cy="274320"/>
          </a:xfrm>
          <a:prstGeom prst="rect">
            <a:avLst/>
          </a:prstGeom>
          <a:noFill/>
          <a:ln/>
        </p:spPr>
        <p:txBody>
          <a:bodyPr wrap="square" rtlCol="0" anchor="ctr"/>
          <a:lstStyle/>
          <a:p>
            <a:pPr indent="0" marL="0">
              <a:buNone/>
            </a:pPr>
            <a:r>
              <a:rPr lang="en-US" sz="1100" b="1" spc="300" kern="0" dirty="0">
                <a:solidFill>
                  <a:srgbClr val="2E7D32"/>
                </a:solidFill>
                <a:latin typeface="Calibri" pitchFamily="34" charset="0"/>
                <a:ea typeface="Calibri" pitchFamily="34" charset="-122"/>
                <a:cs typeface="Calibri" pitchFamily="34" charset="-120"/>
              </a:rPr>
              <a:t>À CE STADE, VOUS DEVRIEZ AVOIR :</a:t>
            </a:r>
            <a:endParaRPr lang="en-US" sz="1100" dirty="0"/>
          </a:p>
        </p:txBody>
      </p:sp>
      <p:sp>
        <p:nvSpPr>
          <p:cNvPr id="8" name="Text 6"/>
          <p:cNvSpPr/>
          <p:nvPr/>
        </p:nvSpPr>
        <p:spPr>
          <a:xfrm>
            <a:off x="1097280" y="2606040"/>
            <a:ext cx="6949440" cy="1920240"/>
          </a:xfrm>
          <a:prstGeom prst="rect">
            <a:avLst/>
          </a:prstGeom>
          <a:noFill/>
          <a:ln/>
        </p:spPr>
        <p:txBody>
          <a:bodyPr wrap="square" rtlCol="0" anchor="ctr"/>
          <a:lstStyle/>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POST /api/reviews sans token renvoie 401</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POST /api/reviews avec un token valide crée l'avis (201)</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DELETE d'un avis avec un user non-propriétaire renvoie 403</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Votre service est accessible via Traefik (http://localhost/api/reviews)</a:t>
            </a:r>
            <a:endParaRPr lang="en-US" sz="1400" dirty="0"/>
          </a:p>
          <a:p>
            <a:pPr indent="0" marL="0">
              <a:spcAft>
                <a:spcPts val="600"/>
              </a:spcAft>
              <a:buNone/>
            </a:pPr>
            <a:r>
              <a:rPr lang="en-US" sz="1400" dirty="0">
                <a:solidFill>
                  <a:srgbClr val="1E2761"/>
                </a:solidFill>
                <a:latin typeface="Calibri" pitchFamily="34" charset="0"/>
                <a:ea typeface="Calibri" pitchFamily="34" charset="-122"/>
                <a:cs typeface="Calibri" pitchFamily="34" charset="-120"/>
              </a:rPr>
              <a:t>  ✓  Vous pouvez décoder le JWT et accéder à $user dans votre code</a:t>
            </a:r>
            <a:endParaRPr lang="en-US" sz="1400" dirty="0"/>
          </a:p>
        </p:txBody>
      </p:sp>
      <p:sp>
        <p:nvSpPr>
          <p:cNvPr id="9" name="Text 7"/>
          <p:cNvSpPr/>
          <p:nvPr/>
        </p:nvSpPr>
        <p:spPr>
          <a:xfrm>
            <a:off x="457200" y="4709160"/>
            <a:ext cx="8229600" cy="274320"/>
          </a:xfrm>
          <a:prstGeom prst="rect">
            <a:avLst/>
          </a:prstGeom>
          <a:noFill/>
          <a:ln/>
        </p:spPr>
        <p:txBody>
          <a:bodyPr wrap="square" rtlCol="0" anchor="ctr"/>
          <a:lstStyle/>
          <a:p>
            <a:pPr algn="ctr" indent="0" marL="0">
              <a:buNone/>
            </a:pPr>
            <a:r>
              <a:rPr lang="en-US" sz="1100" i="1" dirty="0">
                <a:solidFill>
                  <a:srgbClr val="5A6378"/>
                </a:solidFill>
                <a:latin typeface="Calibri" pitchFamily="34" charset="0"/>
                <a:ea typeface="Calibri" pitchFamily="34" charset="-122"/>
                <a:cs typeface="Calibri" pitchFamily="34" charset="-120"/>
              </a:rPr>
              <a:t>Si bloqué : levez la main, on débugue ensemble.</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96167"/>
          </a:solidFill>
          <a:ln w="12700">
            <a:solidFill>
              <a:srgbClr val="F96167"/>
            </a:solidFill>
            <a:prstDash val="solid"/>
          </a:ln>
        </p:spPr>
      </p:sp>
      <p:sp>
        <p:nvSpPr>
          <p:cNvPr id="3" name="Text 1"/>
          <p:cNvSpPr/>
          <p:nvPr/>
        </p:nvSpPr>
        <p:spPr>
          <a:xfrm>
            <a:off x="457200" y="228600"/>
            <a:ext cx="6400800" cy="36576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 PIÈGES CLASSIQUES — À ÉVITER</a:t>
            </a:r>
            <a:endParaRPr lang="en-US" sz="1400" dirty="0"/>
          </a:p>
        </p:txBody>
      </p:sp>
      <p:sp>
        <p:nvSpPr>
          <p:cNvPr id="4" name="Text 2"/>
          <p:cNvSpPr/>
          <p:nvPr/>
        </p:nvSpPr>
        <p:spPr>
          <a:xfrm>
            <a:off x="8229600" y="274320"/>
            <a:ext cx="45720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68</a:t>
            </a:r>
            <a:endParaRPr lang="en-US" sz="1000" dirty="0"/>
          </a:p>
        </p:txBody>
      </p:sp>
      <p:sp>
        <p:nvSpPr>
          <p:cNvPr id="5" name="Text 3"/>
          <p:cNvSpPr/>
          <p:nvPr/>
        </p:nvSpPr>
        <p:spPr>
          <a:xfrm>
            <a:off x="457200" y="1051560"/>
            <a:ext cx="822960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Pièges classiques du TP</a:t>
            </a:r>
            <a:endParaRPr lang="en-US" sz="2400" dirty="0"/>
          </a:p>
        </p:txBody>
      </p:sp>
      <p:sp>
        <p:nvSpPr>
          <p:cNvPr id="6" name="Text 4"/>
          <p:cNvSpPr/>
          <p:nvPr/>
        </p:nvSpPr>
        <p:spPr>
          <a:xfrm>
            <a:off x="548640" y="1783080"/>
            <a:ext cx="8046720" cy="3108960"/>
          </a:xfrm>
          <a:prstGeom prst="rect">
            <a:avLst/>
          </a:prstGeom>
          <a:noFill/>
          <a:ln/>
        </p:spPr>
        <p:txBody>
          <a:bodyPr wrap="square" rtlCol="0" anchor="ctr"/>
          <a:lstStyle/>
          <a:p>
            <a:pPr marL="342900" indent="-342900">
              <a:spcAft>
                <a:spcPts val="400"/>
              </a:spcAft>
              <a:buSzPct val="100000"/>
              <a:buChar char="•"/>
            </a:pPr>
            <a:r>
              <a:rPr lang="en-US" sz="1300" b="1" dirty="0">
                <a:solidFill>
                  <a:srgbClr val="F96167"/>
                </a:solidFill>
                <a:latin typeface="Calibri" pitchFamily="34" charset="0"/>
                <a:ea typeface="Calibri" pitchFamily="34" charset="-122"/>
                <a:cs typeface="Calibri" pitchFamily="34" charset="-120"/>
              </a:rPr>
              <a:t>401 même avec un token valide</a:t>
            </a:r>
            <a:pPr indent="0" marL="0">
              <a:spcAft>
                <a:spcPts val="400"/>
              </a:spcAft>
              <a:buNone/>
            </a:pPr>
            <a:r>
              <a:rPr lang="en-US" sz="1300" dirty="0">
                <a:solidFill>
                  <a:srgbClr val="1E2761"/>
                </a:solidFill>
                <a:latin typeface="Calibri" pitchFamily="34" charset="0"/>
                <a:ea typeface="Calibri" pitchFamily="34" charset="-122"/>
                <a:cs typeface="Calibri" pitchFamily="34" charset="-120"/>
              </a:rPr>
              <a:t> → vérifier que la clé publique est BIEN la même que celle utilisée par Auth (RSA pair).</a:t>
            </a:r>
            <a:endParaRPr lang="en-US" sz="1300" dirty="0"/>
          </a:p>
          <a:p>
            <a:pPr marL="342900" indent="-342900">
              <a:spcAft>
                <a:spcPts val="400"/>
              </a:spcAft>
              <a:buSzPct val="100000"/>
              <a:buChar char="•"/>
            </a:pPr>
            <a:r>
              <a:rPr lang="en-US" sz="1300" b="1" dirty="0">
                <a:solidFill>
                  <a:srgbClr val="F96167"/>
                </a:solidFill>
                <a:latin typeface="Calibri" pitchFamily="34" charset="0"/>
                <a:ea typeface="Calibri" pitchFamily="34" charset="-122"/>
                <a:cs typeface="Calibri" pitchFamily="34" charset="-120"/>
              </a:rPr>
              <a:t>Token expiré au bout de 1h</a:t>
            </a:r>
            <a:pPr indent="0" marL="0">
              <a:spcAft>
                <a:spcPts val="400"/>
              </a:spcAft>
              <a:buNone/>
            </a:pPr>
            <a:r>
              <a:rPr lang="en-US" sz="1300" dirty="0">
                <a:solidFill>
                  <a:srgbClr val="1E2761"/>
                </a:solidFill>
                <a:latin typeface="Calibri" pitchFamily="34" charset="0"/>
                <a:ea typeface="Calibri" pitchFamily="34" charset="-122"/>
                <a:cs typeface="Calibri" pitchFamily="34" charset="-120"/>
              </a:rPr>
              <a:t> → normal — exp court. Ré-utiliser le refresh token ou ré-authentifier.</a:t>
            </a:r>
            <a:endParaRPr lang="en-US" sz="1300" dirty="0"/>
          </a:p>
          <a:p>
            <a:pPr marL="342900" indent="-342900">
              <a:spcAft>
                <a:spcPts val="400"/>
              </a:spcAft>
              <a:buSzPct val="100000"/>
              <a:buChar char="•"/>
            </a:pPr>
            <a:r>
              <a:rPr lang="en-US" sz="1300" b="1" dirty="0">
                <a:solidFill>
                  <a:srgbClr val="F96167"/>
                </a:solidFill>
                <a:latin typeface="Calibri" pitchFamily="34" charset="0"/>
                <a:ea typeface="Calibri" pitchFamily="34" charset="-122"/>
                <a:cs typeface="Calibri" pitchFamily="34" charset="-120"/>
              </a:rPr>
              <a:t>Traefik renvoie 404 sur tout</a:t>
            </a:r>
            <a:pPr indent="0" marL="0">
              <a:spcAft>
                <a:spcPts val="400"/>
              </a:spcAft>
              <a:buNone/>
            </a:pPr>
            <a:r>
              <a:rPr lang="en-US" sz="1300" dirty="0">
                <a:solidFill>
                  <a:srgbClr val="1E2761"/>
                </a:solidFill>
                <a:latin typeface="Calibri" pitchFamily="34" charset="0"/>
                <a:ea typeface="Calibri" pitchFamily="34" charset="-122"/>
                <a:cs typeface="Calibri" pitchFamily="34" charset="-120"/>
              </a:rPr>
              <a:t> → vérifier que les labels Traefik sont dans la section services, et que le service est sur le même réseau.</a:t>
            </a:r>
            <a:endParaRPr lang="en-US" sz="1300" dirty="0"/>
          </a:p>
          <a:p>
            <a:pPr marL="342900" indent="-342900">
              <a:spcAft>
                <a:spcPts val="400"/>
              </a:spcAft>
              <a:buSzPct val="100000"/>
              <a:buChar char="•"/>
            </a:pPr>
            <a:r>
              <a:rPr lang="en-US" sz="1300" b="1" dirty="0">
                <a:solidFill>
                  <a:srgbClr val="F96167"/>
                </a:solidFill>
                <a:latin typeface="Calibri" pitchFamily="34" charset="0"/>
                <a:ea typeface="Calibri" pitchFamily="34" charset="-122"/>
                <a:cs typeface="Calibri" pitchFamily="34" charset="-120"/>
              </a:rPr>
              <a:t>L'équipe Platform n'a pas fini, je suis bloqué</a:t>
            </a:r>
            <a:pPr indent="0" marL="0">
              <a:spcAft>
                <a:spcPts val="400"/>
              </a:spcAft>
              <a:buNone/>
            </a:pPr>
            <a:r>
              <a:rPr lang="en-US" sz="1300" dirty="0">
                <a:solidFill>
                  <a:srgbClr val="1E2761"/>
                </a:solidFill>
                <a:latin typeface="Calibri" pitchFamily="34" charset="0"/>
                <a:ea typeface="Calibri" pitchFamily="34" charset="-122"/>
                <a:cs typeface="Calibri" pitchFamily="34" charset="-120"/>
              </a:rPr>
              <a:t> → mocker temporairement avec un token JWT statique signé avec une clé de test.</a:t>
            </a:r>
            <a:endParaRPr lang="en-US" sz="1300" dirty="0"/>
          </a:p>
          <a:p>
            <a:pPr marL="342900" indent="-342900">
              <a:spcAft>
                <a:spcPts val="400"/>
              </a:spcAft>
              <a:buSzPct val="100000"/>
              <a:buChar char="•"/>
            </a:pPr>
            <a:r>
              <a:rPr lang="en-US" sz="1300" b="1" dirty="0">
                <a:solidFill>
                  <a:srgbClr val="F96167"/>
                </a:solidFill>
                <a:latin typeface="Calibri" pitchFamily="34" charset="0"/>
                <a:ea typeface="Calibri" pitchFamily="34" charset="-122"/>
                <a:cs typeface="Calibri" pitchFamily="34" charset="-120"/>
              </a:rPr>
              <a:t>CORS bloque mes appels depuis le navigateur</a:t>
            </a:r>
            <a:pPr indent="0" marL="0">
              <a:spcAft>
                <a:spcPts val="400"/>
              </a:spcAft>
              <a:buNone/>
            </a:pPr>
            <a:r>
              <a:rPr lang="en-US" sz="1300" dirty="0">
                <a:solidFill>
                  <a:srgbClr val="1E2761"/>
                </a:solidFill>
                <a:latin typeface="Calibri" pitchFamily="34" charset="0"/>
                <a:ea typeface="Calibri" pitchFamily="34" charset="-122"/>
                <a:cs typeface="Calibri" pitchFamily="34" charset="-120"/>
              </a:rPr>
              <a:t> → ajouter le middleware CORS dans Traefik.</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S12.5 — DÉMO BOUT-EN-BOUT (15 MIN)</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69</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On démontre que tout marche ensemble</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Toutes les équipes lancent leur docker-compose merged</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Démo 1 : curl POST /api/auth/register — créer un user</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Démo 2 : curl POST /api/auth/login_check — récupérer un JWT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Démo 3 : curl GET /api/products (public) — voir le catalogue</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Démo 4 : curl POST /api/reviews avec le token — créer un avis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Démo 5 : curl POST /api/reviews sans token — 401 attendu</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Le but : montrer que les 4 services + Auth + Gateway marchent en collectif.</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2761"/>
          </a:solidFill>
          <a:ln w="12700">
            <a:solidFill>
              <a:srgbClr val="1E2761"/>
            </a:solidFill>
            <a:prstDash val="solid"/>
          </a:ln>
        </p:spPr>
      </p:sp>
      <p:sp>
        <p:nvSpPr>
          <p:cNvPr id="3" name="Text 1"/>
          <p:cNvSpPr/>
          <p:nvPr/>
        </p:nvSpPr>
        <p:spPr>
          <a:xfrm>
            <a:off x="457200" y="320040"/>
            <a:ext cx="4572000" cy="320040"/>
          </a:xfrm>
          <a:prstGeom prst="rect">
            <a:avLst/>
          </a:prstGeom>
          <a:noFill/>
          <a:ln/>
        </p:spPr>
        <p:txBody>
          <a:bodyPr wrap="square" rtlCol="0" anchor="ctr"/>
          <a:lstStyle/>
          <a:p>
            <a:pPr indent="0" marL="0">
              <a:buNone/>
            </a:pPr>
            <a:r>
              <a:rPr lang="en-US" sz="1100" b="1" spc="300" kern="0" dirty="0">
                <a:solidFill>
                  <a:srgbClr val="1E2761"/>
                </a:solidFill>
                <a:latin typeface="Calibri" pitchFamily="34" charset="0"/>
                <a:ea typeface="Calibri" pitchFamily="34" charset="-122"/>
                <a:cs typeface="Calibri" pitchFamily="34" charset="-120"/>
              </a:rPr>
              <a:t>À RENDRE DANS 7 JOURS</a:t>
            </a:r>
            <a:endParaRPr lang="en-US" sz="1100" dirty="0"/>
          </a:p>
        </p:txBody>
      </p:sp>
      <p:sp>
        <p:nvSpPr>
          <p:cNvPr id="4" name="Text 2"/>
          <p:cNvSpPr/>
          <p:nvPr/>
        </p:nvSpPr>
        <p:spPr>
          <a:xfrm>
            <a:off x="8229600" y="320040"/>
            <a:ext cx="45720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70</a:t>
            </a:r>
            <a:endParaRPr lang="en-US" sz="1000" dirty="0"/>
          </a:p>
        </p:txBody>
      </p:sp>
      <p:sp>
        <p:nvSpPr>
          <p:cNvPr id="5" name="Text 3"/>
          <p:cNvSpPr/>
          <p:nvPr/>
        </p:nvSpPr>
        <p:spPr>
          <a:xfrm>
            <a:off x="457200" y="777240"/>
            <a:ext cx="8229600" cy="73152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Livrables du TP S12</a:t>
            </a:r>
            <a:endParaRPr lang="en-US" sz="2800" dirty="0"/>
          </a:p>
        </p:txBody>
      </p:sp>
      <p:sp>
        <p:nvSpPr>
          <p:cNvPr id="6" name="Shape 4"/>
          <p:cNvSpPr/>
          <p:nvPr/>
        </p:nvSpPr>
        <p:spPr>
          <a:xfrm>
            <a:off x="457200" y="1508760"/>
            <a:ext cx="548640" cy="36576"/>
          </a:xfrm>
          <a:prstGeom prst="rect">
            <a:avLst/>
          </a:prstGeom>
          <a:solidFill>
            <a:srgbClr val="F96167"/>
          </a:solidFill>
          <a:ln w="12700">
            <a:solidFill>
              <a:srgbClr val="F96167"/>
            </a:solidFill>
            <a:prstDash val="solid"/>
          </a:ln>
        </p:spPr>
      </p:sp>
      <p:sp>
        <p:nvSpPr>
          <p:cNvPr id="7" name="Text 5"/>
          <p:cNvSpPr/>
          <p:nvPr/>
        </p:nvSpPr>
        <p:spPr>
          <a:xfrm>
            <a:off x="548640" y="1828800"/>
            <a:ext cx="8046720" cy="2743200"/>
          </a:xfrm>
          <a:prstGeom prst="rect">
            <a:avLst/>
          </a:prstGeom>
          <a:noFill/>
          <a:ln/>
        </p:spPr>
        <p:txBody>
          <a:bodyPr wrap="square" rtlCol="0" anchor="ctr"/>
          <a:lstStyle/>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Dépôt Platform : code Auth + docker-compose Traefik + README</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Chaque équipe métier : dépôt mis à jour avec intégration JWT</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Capture d'écran : démo bout-en-bout (curl + résultats)</a:t>
            </a:r>
            <a:endParaRPr lang="en-US" sz="1600" dirty="0"/>
          </a:p>
          <a:p>
            <a:pPr marL="342900" indent="-342900">
              <a:spcAft>
                <a:spcPts val="600"/>
              </a:spcAft>
              <a:buSzPct val="100000"/>
              <a:buChar char="•"/>
            </a:pPr>
            <a:r>
              <a:rPr lang="en-US" sz="1600" dirty="0">
                <a:solidFill>
                  <a:srgbClr val="1E2761"/>
                </a:solidFill>
                <a:latin typeface="Calibri" pitchFamily="34" charset="0"/>
                <a:ea typeface="Calibri" pitchFamily="34" charset="-122"/>
                <a:cs typeface="Calibri" pitchFamily="34" charset="-120"/>
              </a:rPr>
              <a:t>Compte rendu collectif : 2-3 pages sur la coordination inter-équipes</a:t>
            </a:r>
            <a:endParaRPr lang="en-US" sz="1600" dirty="0"/>
          </a:p>
        </p:txBody>
      </p:sp>
      <p:sp>
        <p:nvSpPr>
          <p:cNvPr id="8" name="Text 6"/>
          <p:cNvSpPr/>
          <p:nvPr/>
        </p:nvSpPr>
        <p:spPr>
          <a:xfrm>
            <a:off x="457200" y="4754880"/>
            <a:ext cx="8229600" cy="274320"/>
          </a:xfrm>
          <a:prstGeom prst="rect">
            <a:avLst/>
          </a:prstGeom>
          <a:noFill/>
          <a:ln/>
        </p:spPr>
        <p:txBody>
          <a:bodyPr wrap="square" rtlCol="0" anchor="ctr"/>
          <a:lstStyle/>
          <a:p>
            <a:pPr indent="0" marL="0">
              <a:buNone/>
            </a:pPr>
            <a:r>
              <a:rPr lang="en-US" sz="1100" i="1" dirty="0">
                <a:solidFill>
                  <a:srgbClr val="5A6378"/>
                </a:solidFill>
                <a:latin typeface="Calibri" pitchFamily="34" charset="0"/>
                <a:ea typeface="Calibri" pitchFamily="34" charset="-122"/>
                <a:cs typeface="Calibri" pitchFamily="34" charset="-120"/>
              </a:rPr>
              <a:t>Barème : Auth+Gateway 6 / Intégration JWT par équipe 6 / Démo bout-en-bout 5 / Coordination 3.</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548640"/>
            <a:ext cx="8229600" cy="457200"/>
          </a:xfrm>
          <a:prstGeom prst="rect">
            <a:avLst/>
          </a:prstGeom>
          <a:noFill/>
          <a:ln/>
        </p:spPr>
        <p:txBody>
          <a:bodyPr wrap="square" rtlCol="0" anchor="ctr"/>
          <a:lstStyle/>
          <a:p>
            <a:pPr algn="ctr" indent="0" marL="0">
              <a:buNone/>
            </a:pPr>
            <a:r>
              <a:rPr lang="en-US" sz="1400" b="1" spc="400" kern="0" dirty="0">
                <a:solidFill>
                  <a:srgbClr val="CADCFC"/>
                </a:solidFill>
                <a:latin typeface="Calibri" pitchFamily="34" charset="0"/>
                <a:ea typeface="Calibri" pitchFamily="34" charset="-122"/>
                <a:cs typeface="Calibri" pitchFamily="34" charset="-120"/>
              </a:rPr>
              <a:t>FIN DE LA JOURNÉE 3</a:t>
            </a:r>
            <a:endParaRPr lang="en-US" sz="1400" dirty="0"/>
          </a:p>
        </p:txBody>
      </p:sp>
      <p:sp>
        <p:nvSpPr>
          <p:cNvPr id="3" name="Text 1"/>
          <p:cNvSpPr/>
          <p:nvPr/>
        </p:nvSpPr>
        <p:spPr>
          <a:xfrm>
            <a:off x="8229600" y="3657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71</a:t>
            </a:r>
            <a:endParaRPr lang="en-US" sz="1000" dirty="0"/>
          </a:p>
        </p:txBody>
      </p:sp>
      <p:sp>
        <p:nvSpPr>
          <p:cNvPr id="4" name="Text 2"/>
          <p:cNvSpPr/>
          <p:nvPr/>
        </p:nvSpPr>
        <p:spPr>
          <a:xfrm>
            <a:off x="457200" y="1188720"/>
            <a:ext cx="82296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FlexShop est maintenant sécurisé ! 🔒</a:t>
            </a:r>
            <a:endParaRPr lang="en-US" sz="2800" dirty="0"/>
          </a:p>
        </p:txBody>
      </p:sp>
      <p:sp>
        <p:nvSpPr>
          <p:cNvPr id="5" name="Text 3"/>
          <p:cNvSpPr/>
          <p:nvPr/>
        </p:nvSpPr>
        <p:spPr>
          <a:xfrm>
            <a:off x="457200" y="1920240"/>
            <a:ext cx="8229600" cy="365760"/>
          </a:xfrm>
          <a:prstGeom prst="rect">
            <a:avLst/>
          </a:prstGeom>
          <a:noFill/>
          <a:ln/>
        </p:spPr>
        <p:txBody>
          <a:bodyPr wrap="square"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Auth centralisé + Gateway + JWT inter-services</a:t>
            </a:r>
            <a:endParaRPr lang="en-US" sz="1600" dirty="0"/>
          </a:p>
        </p:txBody>
      </p:sp>
      <p:sp>
        <p:nvSpPr>
          <p:cNvPr id="6" name="Shape 4"/>
          <p:cNvSpPr/>
          <p:nvPr/>
        </p:nvSpPr>
        <p:spPr>
          <a:xfrm>
            <a:off x="731520" y="2560320"/>
            <a:ext cx="7680960" cy="2194560"/>
          </a:xfrm>
          <a:prstGeom prst="rect">
            <a:avLst/>
          </a:prstGeom>
          <a:solidFill>
            <a:srgbClr val="FFFFFF"/>
          </a:solidFill>
          <a:ln w="25400">
            <a:solidFill>
              <a:srgbClr val="F96167"/>
            </a:solidFill>
            <a:prstDash val="solid"/>
          </a:ln>
        </p:spPr>
      </p:sp>
      <p:sp>
        <p:nvSpPr>
          <p:cNvPr id="7" name="Text 5"/>
          <p:cNvSpPr/>
          <p:nvPr/>
        </p:nvSpPr>
        <p:spPr>
          <a:xfrm>
            <a:off x="914400" y="2697480"/>
            <a:ext cx="7315200" cy="274320"/>
          </a:xfrm>
          <a:prstGeom prst="rect">
            <a:avLst/>
          </a:prstGeom>
          <a:noFill/>
          <a:ln/>
        </p:spPr>
        <p:txBody>
          <a:bodyPr wrap="square"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 DEVOIR GLOBAL DE LA JOURNÉE</a:t>
            </a:r>
            <a:endParaRPr lang="en-US" sz="1100" dirty="0"/>
          </a:p>
        </p:txBody>
      </p:sp>
      <p:sp>
        <p:nvSpPr>
          <p:cNvPr id="8" name="Text 6"/>
          <p:cNvSpPr/>
          <p:nvPr/>
        </p:nvSpPr>
        <p:spPr>
          <a:xfrm>
            <a:off x="914400" y="2971800"/>
            <a:ext cx="73152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Un compte rendu UNIQUE de 4-5 pages, à rendre dans 7 jours.</a:t>
            </a:r>
            <a:endParaRPr lang="en-US" sz="1300" dirty="0"/>
          </a:p>
        </p:txBody>
      </p:sp>
      <p:sp>
        <p:nvSpPr>
          <p:cNvPr id="9" name="Text 7"/>
          <p:cNvSpPr/>
          <p:nvPr/>
        </p:nvSpPr>
        <p:spPr>
          <a:xfrm>
            <a:off x="914400" y="3246120"/>
            <a:ext cx="7315200" cy="1463040"/>
          </a:xfrm>
          <a:prstGeom prst="rect">
            <a:avLst/>
          </a:prstGeom>
          <a:noFill/>
          <a:ln/>
        </p:spPr>
        <p:txBody>
          <a:bodyPr wrap="square" rtlCol="0" anchor="ctr"/>
          <a:lstStyle/>
          <a:p>
            <a:pPr indent="0" marL="0">
              <a:spcAft>
                <a:spcPts val="200"/>
              </a:spcAft>
              <a:buNone/>
            </a:pPr>
            <a:r>
              <a:rPr lang="en-US" sz="1100" b="1" dirty="0">
                <a:solidFill>
                  <a:srgbClr val="1E2761"/>
                </a:solidFill>
                <a:latin typeface="Calibri" pitchFamily="34" charset="0"/>
                <a:ea typeface="Calibri" pitchFamily="34" charset="-122"/>
                <a:cs typeface="Calibri" pitchFamily="34" charset="-120"/>
              </a:rPr>
              <a:t>Section 1 : </a:t>
            </a:r>
            <a:pPr indent="0" marL="0">
              <a:spcAft>
                <a:spcPts val="200"/>
              </a:spcAft>
              <a:buNone/>
            </a:pPr>
            <a:r>
              <a:rPr lang="en-US" sz="1100" dirty="0">
                <a:solidFill>
                  <a:srgbClr val="1E2761"/>
                </a:solidFill>
                <a:latin typeface="Calibri" pitchFamily="34" charset="0"/>
                <a:ea typeface="Calibri" pitchFamily="34" charset="-122"/>
                <a:cs typeface="Calibri" pitchFamily="34" charset="-120"/>
              </a:rPr>
              <a:t>Choix d'auth dans votre service : tokens courts ou longs ? RBAC ou ABAC ? (S9)</a:t>
            </a:r>
            <a:endParaRPr lang="en-US" sz="1100" dirty="0"/>
          </a:p>
          <a:p>
            <a:pPr indent="0" marL="0">
              <a:spcAft>
                <a:spcPts val="200"/>
              </a:spcAft>
              <a:buNone/>
            </a:pPr>
            <a:r>
              <a:rPr lang="en-US" sz="1100" b="1" dirty="0">
                <a:solidFill>
                  <a:srgbClr val="1E2761"/>
                </a:solidFill>
                <a:latin typeface="Calibri" pitchFamily="34" charset="0"/>
                <a:ea typeface="Calibri" pitchFamily="34" charset="-122"/>
                <a:cs typeface="Calibri" pitchFamily="34" charset="-120"/>
              </a:rPr>
              <a:t>Section 2 : </a:t>
            </a:r>
            <a:pPr indent="0" marL="0">
              <a:spcAft>
                <a:spcPts val="200"/>
              </a:spcAft>
              <a:buNone/>
            </a:pPr>
            <a:r>
              <a:rPr lang="en-US" sz="1100" dirty="0">
                <a:solidFill>
                  <a:srgbClr val="1E2761"/>
                </a:solidFill>
                <a:latin typeface="Calibri" pitchFamily="34" charset="0"/>
                <a:ea typeface="Calibri" pitchFamily="34" charset="-122"/>
                <a:cs typeface="Calibri" pitchFamily="34" charset="-120"/>
              </a:rPr>
              <a:t>Identifiez une Saga potentielle dans FlexShop : étapes + compensations (S10)</a:t>
            </a:r>
            <a:endParaRPr lang="en-US" sz="1100" dirty="0"/>
          </a:p>
          <a:p>
            <a:pPr indent="0" marL="0">
              <a:spcAft>
                <a:spcPts val="200"/>
              </a:spcAft>
              <a:buNone/>
            </a:pPr>
            <a:r>
              <a:rPr lang="en-US" sz="1100" b="1" dirty="0">
                <a:solidFill>
                  <a:srgbClr val="1E2761"/>
                </a:solidFill>
                <a:latin typeface="Calibri" pitchFamily="34" charset="0"/>
                <a:ea typeface="Calibri" pitchFamily="34" charset="-122"/>
                <a:cs typeface="Calibri" pitchFamily="34" charset="-120"/>
              </a:rPr>
              <a:t>Section 3 : </a:t>
            </a:r>
            <a:pPr indent="0" marL="0">
              <a:spcAft>
                <a:spcPts val="200"/>
              </a:spcAft>
              <a:buNone/>
            </a:pPr>
            <a:r>
              <a:rPr lang="en-US" sz="1100" dirty="0">
                <a:solidFill>
                  <a:srgbClr val="1E2761"/>
                </a:solidFill>
                <a:latin typeface="Calibri" pitchFamily="34" charset="0"/>
                <a:ea typeface="Calibri" pitchFamily="34" charset="-122"/>
                <a:cs typeface="Calibri" pitchFamily="34" charset="-120"/>
              </a:rPr>
              <a:t>Pourquoi Traefik et pas Kong/Nginx pour FlexShop ? Justifiez. (S11)</a:t>
            </a:r>
            <a:endParaRPr lang="en-US" sz="1100" dirty="0"/>
          </a:p>
          <a:p>
            <a:pPr indent="0" marL="0">
              <a:spcAft>
                <a:spcPts val="200"/>
              </a:spcAft>
              <a:buNone/>
            </a:pPr>
            <a:r>
              <a:rPr lang="en-US" sz="1100" b="1" dirty="0">
                <a:solidFill>
                  <a:srgbClr val="1E2761"/>
                </a:solidFill>
                <a:latin typeface="Calibri" pitchFamily="34" charset="0"/>
                <a:ea typeface="Calibri" pitchFamily="34" charset="-122"/>
                <a:cs typeface="Calibri" pitchFamily="34" charset="-120"/>
              </a:rPr>
              <a:t>Section 4 : </a:t>
            </a:r>
            <a:pPr indent="0" marL="0">
              <a:spcAft>
                <a:spcPts val="200"/>
              </a:spcAft>
              <a:buNone/>
            </a:pPr>
            <a:r>
              <a:rPr lang="en-US" sz="1100" dirty="0">
                <a:solidFill>
                  <a:srgbClr val="1E2761"/>
                </a:solidFill>
                <a:latin typeface="Calibri" pitchFamily="34" charset="0"/>
                <a:ea typeface="Calibri" pitchFamily="34" charset="-122"/>
                <a:cs typeface="Calibri" pitchFamily="34" charset="-120"/>
              </a:rPr>
              <a:t>Retour sur le TP collectif + lien Git mis à jour (S12)</a:t>
            </a:r>
            <a:endParaRPr lang="en-US" sz="1100" dirty="0"/>
          </a:p>
        </p:txBody>
      </p:sp>
      <p:sp>
        <p:nvSpPr>
          <p:cNvPr id="10" name="Text 8"/>
          <p:cNvSpPr/>
          <p:nvPr/>
        </p:nvSpPr>
        <p:spPr>
          <a:xfrm>
            <a:off x="457200" y="4846320"/>
            <a:ext cx="8229600" cy="274320"/>
          </a:xfrm>
          <a:prstGeom prst="rect">
            <a:avLst/>
          </a:prstGeom>
          <a:noFill/>
          <a:ln/>
        </p:spPr>
        <p:txBody>
          <a:bodyPr wrap="square"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Prochaine étape : J4 avec CI/CD, monitoring, observabilité. Continuez à dev votre service entre-temps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Journée 3 - Sécurité, Sagas, Gateway</dc:title>
  <dc:subject>PptxGenJS Presentation</dc:subject>
  <dc:creator>Architecture Micro-services</dc:creator>
  <cp:lastModifiedBy>Architecture Micro-services</cp:lastModifiedBy>
  <cp:revision>1</cp:revision>
  <dcterms:created xsi:type="dcterms:W3CDTF">2026-06-21T21:13:14Z</dcterms:created>
  <dcterms:modified xsi:type="dcterms:W3CDTF">2026-06-21T21:13:14Z</dcterms:modified>
</cp:coreProperties>
</file>